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64" r:id="rId2"/>
    <p:sldId id="266" r:id="rId3"/>
    <p:sldId id="283" r:id="rId4"/>
    <p:sldId id="284" r:id="rId5"/>
    <p:sldId id="285" r:id="rId6"/>
    <p:sldId id="286" r:id="rId7"/>
    <p:sldId id="287" r:id="rId8"/>
    <p:sldId id="288" r:id="rId9"/>
    <p:sldId id="289" r:id="rId10"/>
    <p:sldId id="290" r:id="rId11"/>
    <p:sldId id="291" r:id="rId12"/>
    <p:sldId id="292" r:id="rId13"/>
    <p:sldId id="293" r:id="rId14"/>
    <p:sldId id="294" r:id="rId15"/>
    <p:sldId id="295" r:id="rId16"/>
    <p:sldId id="297" r:id="rId17"/>
    <p:sldId id="299" r:id="rId18"/>
    <p:sldId id="301" r:id="rId19"/>
    <p:sldId id="30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2" d="100"/>
          <a:sy n="82" d="100"/>
        </p:scale>
        <p:origin x="426" y="3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file:///E:\Metrology\Timbre\CSP%20ODP%20Results\FI_xSEM%20vs%20ODP.xls"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350" b="1" i="0" u="none" strike="noStrike" baseline="0">
                <a:solidFill>
                  <a:srgbClr val="000000"/>
                </a:solidFill>
                <a:latin typeface="Arial"/>
                <a:ea typeface="Arial"/>
                <a:cs typeface="Arial"/>
              </a:defRPr>
            </a:pPr>
            <a:r>
              <a:rPr lang="en-SG"/>
              <a:t>site 27</a:t>
            </a:r>
          </a:p>
        </c:rich>
      </c:tx>
      <c:layout>
        <c:manualLayout>
          <c:xMode val="edge"/>
          <c:yMode val="edge"/>
          <c:x val="0.41830332352509397"/>
          <c:y val="3.6101146669722105E-2"/>
        </c:manualLayout>
      </c:layout>
      <c:overlay val="0"/>
      <c:spPr>
        <a:noFill/>
        <a:ln w="25400">
          <a:noFill/>
        </a:ln>
      </c:spPr>
    </c:title>
    <c:autoTitleDeleted val="0"/>
    <c:plotArea>
      <c:layout>
        <c:manualLayout>
          <c:layoutTarget val="inner"/>
          <c:xMode val="edge"/>
          <c:yMode val="edge"/>
          <c:x val="0.13725577803167147"/>
          <c:y val="0.19855630668347157"/>
          <c:w val="0.71895883730875532"/>
          <c:h val="0.70036224539260883"/>
        </c:manualLayout>
      </c:layout>
      <c:scatterChart>
        <c:scatterStyle val="lineMarker"/>
        <c:varyColors val="0"/>
        <c:ser>
          <c:idx val="0"/>
          <c:order val="0"/>
          <c:spPr>
            <a:ln w="12700">
              <a:solidFill>
                <a:srgbClr val="008080"/>
              </a:solidFill>
              <a:prstDash val="solid"/>
            </a:ln>
          </c:spPr>
          <c:marker>
            <c:symbol val="diamond"/>
            <c:size val="5"/>
            <c:spPr>
              <a:solidFill>
                <a:srgbClr val="008080"/>
              </a:solidFill>
              <a:ln>
                <a:solidFill>
                  <a:srgbClr val="008080"/>
                </a:solidFill>
                <a:prstDash val="solid"/>
              </a:ln>
            </c:spPr>
          </c:marker>
          <c:xVal>
            <c:numRef>
              <c:f>'FI Dense X-SEM Overlap '!$A$107:$P$107</c:f>
              <c:numCache>
                <c:formatCode>General</c:formatCode>
                <c:ptCount val="16"/>
                <c:pt idx="0">
                  <c:v>-99.400899999999993</c:v>
                </c:pt>
                <c:pt idx="1">
                  <c:v>-84.900899999999993</c:v>
                </c:pt>
                <c:pt idx="2">
                  <c:v>-69.150199999999998</c:v>
                </c:pt>
                <c:pt idx="3">
                  <c:v>-57.763500000000001</c:v>
                </c:pt>
                <c:pt idx="4">
                  <c:v>-55.263500000000001</c:v>
                </c:pt>
                <c:pt idx="5">
                  <c:v>-55.263500000000001</c:v>
                </c:pt>
                <c:pt idx="6">
                  <c:v>-57.763500000000001</c:v>
                </c:pt>
                <c:pt idx="7">
                  <c:v>-55.263500000000001</c:v>
                </c:pt>
                <c:pt idx="8">
                  <c:v>55.263500000000001</c:v>
                </c:pt>
                <c:pt idx="9">
                  <c:v>57.763500000000001</c:v>
                </c:pt>
                <c:pt idx="10">
                  <c:v>55.263500000000001</c:v>
                </c:pt>
                <c:pt idx="11">
                  <c:v>55.263500000000001</c:v>
                </c:pt>
                <c:pt idx="12">
                  <c:v>57.763500000000001</c:v>
                </c:pt>
                <c:pt idx="13">
                  <c:v>69.150199999999998</c:v>
                </c:pt>
                <c:pt idx="14">
                  <c:v>84.900899999999993</c:v>
                </c:pt>
                <c:pt idx="15">
                  <c:v>99.400899999999993</c:v>
                </c:pt>
              </c:numCache>
            </c:numRef>
          </c:xVal>
          <c:yVal>
            <c:numRef>
              <c:f>'FI Dense X-SEM Overlap '!$A$108:$P$108</c:f>
              <c:numCache>
                <c:formatCode>General</c:formatCode>
                <c:ptCount val="16"/>
                <c:pt idx="0">
                  <c:v>0</c:v>
                </c:pt>
                <c:pt idx="1">
                  <c:v>60.588000000000001</c:v>
                </c:pt>
                <c:pt idx="2">
                  <c:v>173.1086</c:v>
                </c:pt>
                <c:pt idx="3">
                  <c:v>384.6859</c:v>
                </c:pt>
                <c:pt idx="4">
                  <c:v>384.6859</c:v>
                </c:pt>
                <c:pt idx="5">
                  <c:v>394.6859</c:v>
                </c:pt>
                <c:pt idx="6">
                  <c:v>394.6859</c:v>
                </c:pt>
                <c:pt idx="7">
                  <c:v>487.06319999999999</c:v>
                </c:pt>
                <c:pt idx="8">
                  <c:v>487.06319999999999</c:v>
                </c:pt>
                <c:pt idx="9">
                  <c:v>394.6859</c:v>
                </c:pt>
                <c:pt idx="10">
                  <c:v>394.6859</c:v>
                </c:pt>
                <c:pt idx="11">
                  <c:v>384.6859</c:v>
                </c:pt>
                <c:pt idx="12">
                  <c:v>384.6859</c:v>
                </c:pt>
                <c:pt idx="13">
                  <c:v>173.1086</c:v>
                </c:pt>
                <c:pt idx="14">
                  <c:v>60.588000000000001</c:v>
                </c:pt>
                <c:pt idx="15">
                  <c:v>0</c:v>
                </c:pt>
              </c:numCache>
            </c:numRef>
          </c:yVal>
          <c:smooth val="0"/>
          <c:extLst>
            <c:ext xmlns:c16="http://schemas.microsoft.com/office/drawing/2014/chart" uri="{C3380CC4-5D6E-409C-BE32-E72D297353CC}">
              <c16:uniqueId val="{00000000-5570-48D3-BB7D-E3A655283045}"/>
            </c:ext>
          </c:extLst>
        </c:ser>
        <c:dLbls>
          <c:showLegendKey val="0"/>
          <c:showVal val="0"/>
          <c:showCatName val="0"/>
          <c:showSerName val="0"/>
          <c:showPercent val="0"/>
          <c:showBubbleSize val="0"/>
        </c:dLbls>
        <c:axId val="10262080"/>
        <c:axId val="1"/>
      </c:scatterChart>
      <c:valAx>
        <c:axId val="10262080"/>
        <c:scaling>
          <c:orientation val="minMax"/>
        </c:scaling>
        <c:delete val="0"/>
        <c:axPos val="b"/>
        <c:numFmt formatCode="General" sourceLinked="1"/>
        <c:majorTickMark val="out"/>
        <c:minorTickMark val="none"/>
        <c:tickLblPos val="nextTo"/>
        <c:spPr>
          <a:ln w="3175">
            <a:solidFill>
              <a:srgbClr val="000000"/>
            </a:solidFill>
            <a:prstDash val="solid"/>
          </a:ln>
        </c:spPr>
        <c:txPr>
          <a:bodyPr rot="0" vert="horz"/>
          <a:lstStyle/>
          <a:p>
            <a:pPr>
              <a:defRPr sz="300" b="0" i="0" u="none" strike="noStrike" baseline="0">
                <a:solidFill>
                  <a:srgbClr val="000000"/>
                </a:solidFill>
                <a:latin typeface="Arial"/>
                <a:ea typeface="Arial"/>
                <a:cs typeface="Arial"/>
              </a:defRPr>
            </a:pPr>
            <a:endParaRPr lang="en-US"/>
          </a:p>
        </c:txPr>
        <c:crossAx val="1"/>
        <c:crosses val="autoZero"/>
        <c:crossBetween val="midCat"/>
      </c:valAx>
      <c:valAx>
        <c:axId val="1"/>
        <c:scaling>
          <c:orientation val="minMax"/>
        </c:scaling>
        <c:delete val="0"/>
        <c:axPos val="l"/>
        <c:majorGridlines>
          <c:spPr>
            <a:ln w="3175">
              <a:solidFill>
                <a:srgbClr val="000000"/>
              </a:solidFill>
              <a:prstDash val="solid"/>
            </a:ln>
          </c:spPr>
        </c:majorGridlines>
        <c:numFmt formatCode="General" sourceLinked="1"/>
        <c:majorTickMark val="out"/>
        <c:minorTickMark val="none"/>
        <c:tickLblPos val="nextTo"/>
        <c:spPr>
          <a:ln w="3175">
            <a:solidFill>
              <a:srgbClr val="000000"/>
            </a:solidFill>
            <a:prstDash val="solid"/>
          </a:ln>
        </c:spPr>
        <c:txPr>
          <a:bodyPr rot="0" vert="horz"/>
          <a:lstStyle/>
          <a:p>
            <a:pPr>
              <a:defRPr sz="300" b="0" i="0" u="none" strike="noStrike" baseline="0">
                <a:solidFill>
                  <a:srgbClr val="000000"/>
                </a:solidFill>
                <a:latin typeface="Arial"/>
                <a:ea typeface="Arial"/>
                <a:cs typeface="Arial"/>
              </a:defRPr>
            </a:pPr>
            <a:endParaRPr lang="en-US"/>
          </a:p>
        </c:txPr>
        <c:crossAx val="10262080"/>
        <c:crosses val="autoZero"/>
        <c:crossBetween val="midCat"/>
      </c:valAx>
      <c:spPr>
        <a:noFill/>
        <a:ln w="25400">
          <a:noFill/>
        </a:ln>
      </c:spPr>
    </c:plotArea>
    <c:plotVisOnly val="1"/>
    <c:dispBlanksAs val="gap"/>
    <c:showDLblsOverMax val="0"/>
  </c:chart>
  <c:spPr>
    <a:noFill/>
    <a:ln w="6350">
      <a:noFill/>
    </a:ln>
  </c:spPr>
  <c:txPr>
    <a:bodyPr/>
    <a:lstStyle/>
    <a:p>
      <a:pPr>
        <a:defRPr sz="300" b="0" i="0" u="none" strike="noStrike" baseline="0">
          <a:solidFill>
            <a:srgbClr val="000000"/>
          </a:solidFill>
          <a:latin typeface="Arial"/>
          <a:ea typeface="Arial"/>
          <a:cs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EDD1AD-D5B3-45CD-B1A1-4CCB8CBF8B37}" type="datetimeFigureOut">
              <a:rPr lang="en-SG" smtClean="0"/>
              <a:t>24/3/2026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0D847-4B70-4B57-AD7B-B4F82EAC1F03}" type="slidenum">
              <a:rPr lang="en-SG" smtClean="0"/>
              <a:t>‹#›</a:t>
            </a:fld>
            <a:endParaRPr lang="en-SG"/>
          </a:p>
        </p:txBody>
      </p:sp>
    </p:spTree>
    <p:extLst>
      <p:ext uri="{BB962C8B-B14F-4D97-AF65-F5344CB8AC3E}">
        <p14:creationId xmlns:p14="http://schemas.microsoft.com/office/powerpoint/2010/main" val="4259824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 name="Google Shape;36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0" name="Google Shape;39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5" name="Google Shape;605;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6" name="Google Shape;606;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3" name="Google Shape;623;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2" name="Google Shape;632;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3" name="Google Shape;633;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2" name="Google Shape;64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3" name="Google Shape;65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4" name="Google Shape;66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4" name="Google Shape;754;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7" name="Google Shape;767;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p2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1" name="Google Shape;781;p2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2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0" name="Google Shape;790;p2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7" name="Google Shape;797;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7" name="Google Shape;997;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8" name="Google Shape;1038;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6" name="Google Shape;1066;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0DFB4-8649-9D92-9EF5-45F469A0ED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3093198A-1ECD-C7BA-D60E-D9EC7B560C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050F1273-BACF-02BB-875C-CFAB84CE4A62}"/>
              </a:ext>
            </a:extLst>
          </p:cNvPr>
          <p:cNvSpPr>
            <a:spLocks noGrp="1"/>
          </p:cNvSpPr>
          <p:nvPr>
            <p:ph type="dt" sz="half" idx="10"/>
          </p:nvPr>
        </p:nvSpPr>
        <p:spPr/>
        <p:txBody>
          <a:bodyPr/>
          <a:lstStyle/>
          <a:p>
            <a:fld id="{ADFE6C67-7534-49D9-A2B3-3649C782B68D}" type="datetimeFigureOut">
              <a:rPr lang="en-SG" smtClean="0"/>
              <a:t>24/3/2026</a:t>
            </a:fld>
            <a:endParaRPr lang="en-SG"/>
          </a:p>
        </p:txBody>
      </p:sp>
      <p:sp>
        <p:nvSpPr>
          <p:cNvPr id="5" name="Footer Placeholder 4">
            <a:extLst>
              <a:ext uri="{FF2B5EF4-FFF2-40B4-BE49-F238E27FC236}">
                <a16:creationId xmlns:a16="http://schemas.microsoft.com/office/drawing/2014/main" id="{E2EFDCF6-7312-E753-642D-FFE24C58EC6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0CD7DED-2707-FB91-51CB-F8F8D60E11BF}"/>
              </a:ext>
            </a:extLst>
          </p:cNvPr>
          <p:cNvSpPr>
            <a:spLocks noGrp="1"/>
          </p:cNvSpPr>
          <p:nvPr>
            <p:ph type="sldNum" sz="quarter" idx="12"/>
          </p:nvPr>
        </p:nvSpPr>
        <p:spPr/>
        <p:txBody>
          <a:bodyPr/>
          <a:lstStyle/>
          <a:p>
            <a:fld id="{573B0989-EA9D-4C59-804D-1B88051F29F3}" type="slidenum">
              <a:rPr lang="en-SG" smtClean="0"/>
              <a:t>‹#›</a:t>
            </a:fld>
            <a:endParaRPr lang="en-SG"/>
          </a:p>
        </p:txBody>
      </p:sp>
    </p:spTree>
    <p:extLst>
      <p:ext uri="{BB962C8B-B14F-4D97-AF65-F5344CB8AC3E}">
        <p14:creationId xmlns:p14="http://schemas.microsoft.com/office/powerpoint/2010/main" val="3716620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7D2F7-07A0-A53E-C318-F33D3BE83872}"/>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0C2BF1DF-DFC9-1A3E-4E03-71F35379F0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DD16A37-4694-18EF-3EDD-DA86BE3660A5}"/>
              </a:ext>
            </a:extLst>
          </p:cNvPr>
          <p:cNvSpPr>
            <a:spLocks noGrp="1"/>
          </p:cNvSpPr>
          <p:nvPr>
            <p:ph type="dt" sz="half" idx="10"/>
          </p:nvPr>
        </p:nvSpPr>
        <p:spPr/>
        <p:txBody>
          <a:bodyPr/>
          <a:lstStyle/>
          <a:p>
            <a:fld id="{ADFE6C67-7534-49D9-A2B3-3649C782B68D}" type="datetimeFigureOut">
              <a:rPr lang="en-SG" smtClean="0"/>
              <a:t>24/3/2026</a:t>
            </a:fld>
            <a:endParaRPr lang="en-SG"/>
          </a:p>
        </p:txBody>
      </p:sp>
      <p:sp>
        <p:nvSpPr>
          <p:cNvPr id="5" name="Footer Placeholder 4">
            <a:extLst>
              <a:ext uri="{FF2B5EF4-FFF2-40B4-BE49-F238E27FC236}">
                <a16:creationId xmlns:a16="http://schemas.microsoft.com/office/drawing/2014/main" id="{83F62A8E-01CD-2447-EF46-EFEE335D034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5CCC7072-9C4E-68F6-8A57-3CA98AF7E263}"/>
              </a:ext>
            </a:extLst>
          </p:cNvPr>
          <p:cNvSpPr>
            <a:spLocks noGrp="1"/>
          </p:cNvSpPr>
          <p:nvPr>
            <p:ph type="sldNum" sz="quarter" idx="12"/>
          </p:nvPr>
        </p:nvSpPr>
        <p:spPr/>
        <p:txBody>
          <a:bodyPr/>
          <a:lstStyle/>
          <a:p>
            <a:fld id="{573B0989-EA9D-4C59-804D-1B88051F29F3}" type="slidenum">
              <a:rPr lang="en-SG" smtClean="0"/>
              <a:t>‹#›</a:t>
            </a:fld>
            <a:endParaRPr lang="en-SG"/>
          </a:p>
        </p:txBody>
      </p:sp>
    </p:spTree>
    <p:extLst>
      <p:ext uri="{BB962C8B-B14F-4D97-AF65-F5344CB8AC3E}">
        <p14:creationId xmlns:p14="http://schemas.microsoft.com/office/powerpoint/2010/main" val="3996245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96B70-32EE-D215-BA02-0ECD88FAFC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4CBF3718-C8D0-9AA0-9C48-F0A191AAAC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C5270B-F100-05D7-589E-38E9EE64AD3A}"/>
              </a:ext>
            </a:extLst>
          </p:cNvPr>
          <p:cNvSpPr>
            <a:spLocks noGrp="1"/>
          </p:cNvSpPr>
          <p:nvPr>
            <p:ph type="dt" sz="half" idx="10"/>
          </p:nvPr>
        </p:nvSpPr>
        <p:spPr/>
        <p:txBody>
          <a:bodyPr/>
          <a:lstStyle/>
          <a:p>
            <a:fld id="{ADFE6C67-7534-49D9-A2B3-3649C782B68D}" type="datetimeFigureOut">
              <a:rPr lang="en-SG" smtClean="0"/>
              <a:t>24/3/2026</a:t>
            </a:fld>
            <a:endParaRPr lang="en-SG"/>
          </a:p>
        </p:txBody>
      </p:sp>
      <p:sp>
        <p:nvSpPr>
          <p:cNvPr id="5" name="Footer Placeholder 4">
            <a:extLst>
              <a:ext uri="{FF2B5EF4-FFF2-40B4-BE49-F238E27FC236}">
                <a16:creationId xmlns:a16="http://schemas.microsoft.com/office/drawing/2014/main" id="{3343C829-1505-8344-4FC4-BA3A65651113}"/>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6B341FE-5519-68E3-B62B-AE7F438296D9}"/>
              </a:ext>
            </a:extLst>
          </p:cNvPr>
          <p:cNvSpPr>
            <a:spLocks noGrp="1"/>
          </p:cNvSpPr>
          <p:nvPr>
            <p:ph type="sldNum" sz="quarter" idx="12"/>
          </p:nvPr>
        </p:nvSpPr>
        <p:spPr/>
        <p:txBody>
          <a:bodyPr/>
          <a:lstStyle/>
          <a:p>
            <a:fld id="{573B0989-EA9D-4C59-804D-1B88051F29F3}" type="slidenum">
              <a:rPr lang="en-SG" smtClean="0"/>
              <a:t>‹#›</a:t>
            </a:fld>
            <a:endParaRPr lang="en-SG"/>
          </a:p>
        </p:txBody>
      </p:sp>
    </p:spTree>
    <p:extLst>
      <p:ext uri="{BB962C8B-B14F-4D97-AF65-F5344CB8AC3E}">
        <p14:creationId xmlns:p14="http://schemas.microsoft.com/office/powerpoint/2010/main" val="2314991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EC75B-84B6-5BA9-E586-DBA01C3D7631}"/>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9071E3F6-B7C5-61E3-93A6-061E1F25F5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09563F86-D0F3-9527-7202-BD6C4CBCEE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43D358B7-AC15-2A89-AEB2-C2D46003C180}"/>
              </a:ext>
            </a:extLst>
          </p:cNvPr>
          <p:cNvSpPr>
            <a:spLocks noGrp="1"/>
          </p:cNvSpPr>
          <p:nvPr>
            <p:ph type="dt" sz="half" idx="10"/>
          </p:nvPr>
        </p:nvSpPr>
        <p:spPr/>
        <p:txBody>
          <a:bodyPr/>
          <a:lstStyle/>
          <a:p>
            <a:fld id="{ADFE6C67-7534-49D9-A2B3-3649C782B68D}" type="datetimeFigureOut">
              <a:rPr lang="en-SG" smtClean="0"/>
              <a:t>24/3/2026</a:t>
            </a:fld>
            <a:endParaRPr lang="en-SG"/>
          </a:p>
        </p:txBody>
      </p:sp>
      <p:sp>
        <p:nvSpPr>
          <p:cNvPr id="6" name="Footer Placeholder 5">
            <a:extLst>
              <a:ext uri="{FF2B5EF4-FFF2-40B4-BE49-F238E27FC236}">
                <a16:creationId xmlns:a16="http://schemas.microsoft.com/office/drawing/2014/main" id="{AA4B8EE3-66E7-03A8-8022-85C4D0A0502A}"/>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D320A70-4285-9C37-FCEB-7CC8AB99CFBE}"/>
              </a:ext>
            </a:extLst>
          </p:cNvPr>
          <p:cNvSpPr>
            <a:spLocks noGrp="1"/>
          </p:cNvSpPr>
          <p:nvPr>
            <p:ph type="sldNum" sz="quarter" idx="12"/>
          </p:nvPr>
        </p:nvSpPr>
        <p:spPr/>
        <p:txBody>
          <a:bodyPr/>
          <a:lstStyle/>
          <a:p>
            <a:fld id="{573B0989-EA9D-4C59-804D-1B88051F29F3}" type="slidenum">
              <a:rPr lang="en-SG" smtClean="0"/>
              <a:t>‹#›</a:t>
            </a:fld>
            <a:endParaRPr lang="en-SG"/>
          </a:p>
        </p:txBody>
      </p:sp>
    </p:spTree>
    <p:extLst>
      <p:ext uri="{BB962C8B-B14F-4D97-AF65-F5344CB8AC3E}">
        <p14:creationId xmlns:p14="http://schemas.microsoft.com/office/powerpoint/2010/main" val="3684370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F53F3-9D01-C304-6626-BC390CE3D326}"/>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BA7B8FF-FBBC-427E-977B-0D8FDC7794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BA8933-AEB1-7357-B513-4548532A1D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48F759AC-79A2-CF07-5EF0-3A5D09FF01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60A311-3ABC-88F8-4F89-04967DEFEC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18300C07-1B44-442F-9E44-D8A56D28821D}"/>
              </a:ext>
            </a:extLst>
          </p:cNvPr>
          <p:cNvSpPr>
            <a:spLocks noGrp="1"/>
          </p:cNvSpPr>
          <p:nvPr>
            <p:ph type="dt" sz="half" idx="10"/>
          </p:nvPr>
        </p:nvSpPr>
        <p:spPr/>
        <p:txBody>
          <a:bodyPr/>
          <a:lstStyle/>
          <a:p>
            <a:fld id="{ADFE6C67-7534-49D9-A2B3-3649C782B68D}" type="datetimeFigureOut">
              <a:rPr lang="en-SG" smtClean="0"/>
              <a:t>24/3/2026</a:t>
            </a:fld>
            <a:endParaRPr lang="en-SG"/>
          </a:p>
        </p:txBody>
      </p:sp>
      <p:sp>
        <p:nvSpPr>
          <p:cNvPr id="8" name="Footer Placeholder 7">
            <a:extLst>
              <a:ext uri="{FF2B5EF4-FFF2-40B4-BE49-F238E27FC236}">
                <a16:creationId xmlns:a16="http://schemas.microsoft.com/office/drawing/2014/main" id="{4C88AFD9-B601-D90C-A918-E31808D54365}"/>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AC408428-BDDF-E624-ACE8-B68C039DCCD6}"/>
              </a:ext>
            </a:extLst>
          </p:cNvPr>
          <p:cNvSpPr>
            <a:spLocks noGrp="1"/>
          </p:cNvSpPr>
          <p:nvPr>
            <p:ph type="sldNum" sz="quarter" idx="12"/>
          </p:nvPr>
        </p:nvSpPr>
        <p:spPr/>
        <p:txBody>
          <a:bodyPr/>
          <a:lstStyle/>
          <a:p>
            <a:fld id="{573B0989-EA9D-4C59-804D-1B88051F29F3}" type="slidenum">
              <a:rPr lang="en-SG" smtClean="0"/>
              <a:t>‹#›</a:t>
            </a:fld>
            <a:endParaRPr lang="en-SG"/>
          </a:p>
        </p:txBody>
      </p:sp>
    </p:spTree>
    <p:extLst>
      <p:ext uri="{BB962C8B-B14F-4D97-AF65-F5344CB8AC3E}">
        <p14:creationId xmlns:p14="http://schemas.microsoft.com/office/powerpoint/2010/main" val="2524387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EFF7F-3061-28A4-A45C-708722BC3DC8}"/>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2BB0FF37-C667-A4B4-433C-19DB83DAB61B}"/>
              </a:ext>
            </a:extLst>
          </p:cNvPr>
          <p:cNvSpPr>
            <a:spLocks noGrp="1"/>
          </p:cNvSpPr>
          <p:nvPr>
            <p:ph type="dt" sz="half" idx="10"/>
          </p:nvPr>
        </p:nvSpPr>
        <p:spPr/>
        <p:txBody>
          <a:bodyPr/>
          <a:lstStyle/>
          <a:p>
            <a:fld id="{ADFE6C67-7534-49D9-A2B3-3649C782B68D}" type="datetimeFigureOut">
              <a:rPr lang="en-SG" smtClean="0"/>
              <a:t>24/3/2026</a:t>
            </a:fld>
            <a:endParaRPr lang="en-SG"/>
          </a:p>
        </p:txBody>
      </p:sp>
      <p:sp>
        <p:nvSpPr>
          <p:cNvPr id="4" name="Footer Placeholder 3">
            <a:extLst>
              <a:ext uri="{FF2B5EF4-FFF2-40B4-BE49-F238E27FC236}">
                <a16:creationId xmlns:a16="http://schemas.microsoft.com/office/drawing/2014/main" id="{A1933FEF-CCDA-B112-9027-2339B8338D37}"/>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AAB283CE-4DB2-AD6C-9CA3-26762C742852}"/>
              </a:ext>
            </a:extLst>
          </p:cNvPr>
          <p:cNvSpPr>
            <a:spLocks noGrp="1"/>
          </p:cNvSpPr>
          <p:nvPr>
            <p:ph type="sldNum" sz="quarter" idx="12"/>
          </p:nvPr>
        </p:nvSpPr>
        <p:spPr/>
        <p:txBody>
          <a:bodyPr/>
          <a:lstStyle/>
          <a:p>
            <a:fld id="{573B0989-EA9D-4C59-804D-1B88051F29F3}" type="slidenum">
              <a:rPr lang="en-SG" smtClean="0"/>
              <a:t>‹#›</a:t>
            </a:fld>
            <a:endParaRPr lang="en-SG"/>
          </a:p>
        </p:txBody>
      </p:sp>
    </p:spTree>
    <p:extLst>
      <p:ext uri="{BB962C8B-B14F-4D97-AF65-F5344CB8AC3E}">
        <p14:creationId xmlns:p14="http://schemas.microsoft.com/office/powerpoint/2010/main" val="1909202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980B3A-18BE-2D92-6EBB-D6BD2A924B15}"/>
              </a:ext>
            </a:extLst>
          </p:cNvPr>
          <p:cNvSpPr>
            <a:spLocks noGrp="1"/>
          </p:cNvSpPr>
          <p:nvPr>
            <p:ph type="dt" sz="half" idx="10"/>
          </p:nvPr>
        </p:nvSpPr>
        <p:spPr/>
        <p:txBody>
          <a:bodyPr/>
          <a:lstStyle/>
          <a:p>
            <a:fld id="{ADFE6C67-7534-49D9-A2B3-3649C782B68D}" type="datetimeFigureOut">
              <a:rPr lang="en-SG" smtClean="0"/>
              <a:t>24/3/2026</a:t>
            </a:fld>
            <a:endParaRPr lang="en-SG"/>
          </a:p>
        </p:txBody>
      </p:sp>
      <p:sp>
        <p:nvSpPr>
          <p:cNvPr id="3" name="Footer Placeholder 2">
            <a:extLst>
              <a:ext uri="{FF2B5EF4-FFF2-40B4-BE49-F238E27FC236}">
                <a16:creationId xmlns:a16="http://schemas.microsoft.com/office/drawing/2014/main" id="{F2DD745B-12CC-71B3-6771-2DB7C68D7D2E}"/>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4E04F97D-92CD-7362-4367-56FD704AF723}"/>
              </a:ext>
            </a:extLst>
          </p:cNvPr>
          <p:cNvSpPr>
            <a:spLocks noGrp="1"/>
          </p:cNvSpPr>
          <p:nvPr>
            <p:ph type="sldNum" sz="quarter" idx="12"/>
          </p:nvPr>
        </p:nvSpPr>
        <p:spPr/>
        <p:txBody>
          <a:bodyPr/>
          <a:lstStyle/>
          <a:p>
            <a:fld id="{573B0989-EA9D-4C59-804D-1B88051F29F3}" type="slidenum">
              <a:rPr lang="en-SG" smtClean="0"/>
              <a:t>‹#›</a:t>
            </a:fld>
            <a:endParaRPr lang="en-SG"/>
          </a:p>
        </p:txBody>
      </p:sp>
    </p:spTree>
    <p:extLst>
      <p:ext uri="{BB962C8B-B14F-4D97-AF65-F5344CB8AC3E}">
        <p14:creationId xmlns:p14="http://schemas.microsoft.com/office/powerpoint/2010/main" val="3844193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34BE2-F969-A2B3-BC29-F7586BFC0A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4284EF95-08B9-B172-A59A-773682F043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8F5B144C-25AB-4558-8361-BEFB4A5A3D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D33BF5-E081-E205-EFB3-78E4FAE2624F}"/>
              </a:ext>
            </a:extLst>
          </p:cNvPr>
          <p:cNvSpPr>
            <a:spLocks noGrp="1"/>
          </p:cNvSpPr>
          <p:nvPr>
            <p:ph type="dt" sz="half" idx="10"/>
          </p:nvPr>
        </p:nvSpPr>
        <p:spPr/>
        <p:txBody>
          <a:bodyPr/>
          <a:lstStyle/>
          <a:p>
            <a:fld id="{ADFE6C67-7534-49D9-A2B3-3649C782B68D}" type="datetimeFigureOut">
              <a:rPr lang="en-SG" smtClean="0"/>
              <a:t>24/3/2026</a:t>
            </a:fld>
            <a:endParaRPr lang="en-SG"/>
          </a:p>
        </p:txBody>
      </p:sp>
      <p:sp>
        <p:nvSpPr>
          <p:cNvPr id="6" name="Footer Placeholder 5">
            <a:extLst>
              <a:ext uri="{FF2B5EF4-FFF2-40B4-BE49-F238E27FC236}">
                <a16:creationId xmlns:a16="http://schemas.microsoft.com/office/drawing/2014/main" id="{3F7A3978-4768-8990-CC88-1130431C6959}"/>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6F4E55D9-33DE-C5E5-C71C-BCFBFA767CCE}"/>
              </a:ext>
            </a:extLst>
          </p:cNvPr>
          <p:cNvSpPr>
            <a:spLocks noGrp="1"/>
          </p:cNvSpPr>
          <p:nvPr>
            <p:ph type="sldNum" sz="quarter" idx="12"/>
          </p:nvPr>
        </p:nvSpPr>
        <p:spPr/>
        <p:txBody>
          <a:bodyPr/>
          <a:lstStyle/>
          <a:p>
            <a:fld id="{573B0989-EA9D-4C59-804D-1B88051F29F3}" type="slidenum">
              <a:rPr lang="en-SG" smtClean="0"/>
              <a:t>‹#›</a:t>
            </a:fld>
            <a:endParaRPr lang="en-SG"/>
          </a:p>
        </p:txBody>
      </p:sp>
    </p:spTree>
    <p:extLst>
      <p:ext uri="{BB962C8B-B14F-4D97-AF65-F5344CB8AC3E}">
        <p14:creationId xmlns:p14="http://schemas.microsoft.com/office/powerpoint/2010/main" val="1867068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A420D-659F-A433-E156-2B95756D1D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3BD6FA03-3D86-2364-F9B4-D45C1E6016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CC66FDC3-E36A-D59B-F112-48E3684D0B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507307-494B-B0C7-B83B-935C7D7A2450}"/>
              </a:ext>
            </a:extLst>
          </p:cNvPr>
          <p:cNvSpPr>
            <a:spLocks noGrp="1"/>
          </p:cNvSpPr>
          <p:nvPr>
            <p:ph type="dt" sz="half" idx="10"/>
          </p:nvPr>
        </p:nvSpPr>
        <p:spPr/>
        <p:txBody>
          <a:bodyPr/>
          <a:lstStyle/>
          <a:p>
            <a:fld id="{ADFE6C67-7534-49D9-A2B3-3649C782B68D}" type="datetimeFigureOut">
              <a:rPr lang="en-SG" smtClean="0"/>
              <a:t>24/3/2026</a:t>
            </a:fld>
            <a:endParaRPr lang="en-SG"/>
          </a:p>
        </p:txBody>
      </p:sp>
      <p:sp>
        <p:nvSpPr>
          <p:cNvPr id="6" name="Footer Placeholder 5">
            <a:extLst>
              <a:ext uri="{FF2B5EF4-FFF2-40B4-BE49-F238E27FC236}">
                <a16:creationId xmlns:a16="http://schemas.microsoft.com/office/drawing/2014/main" id="{AE62C3CE-CE80-3046-91E5-F6E8F67E3DB8}"/>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1725F0CF-E263-71DE-EF90-D9563D37AE7C}"/>
              </a:ext>
            </a:extLst>
          </p:cNvPr>
          <p:cNvSpPr>
            <a:spLocks noGrp="1"/>
          </p:cNvSpPr>
          <p:nvPr>
            <p:ph type="sldNum" sz="quarter" idx="12"/>
          </p:nvPr>
        </p:nvSpPr>
        <p:spPr/>
        <p:txBody>
          <a:bodyPr/>
          <a:lstStyle/>
          <a:p>
            <a:fld id="{573B0989-EA9D-4C59-804D-1B88051F29F3}" type="slidenum">
              <a:rPr lang="en-SG" smtClean="0"/>
              <a:t>‹#›</a:t>
            </a:fld>
            <a:endParaRPr lang="en-SG"/>
          </a:p>
        </p:txBody>
      </p:sp>
    </p:spTree>
    <p:extLst>
      <p:ext uri="{BB962C8B-B14F-4D97-AF65-F5344CB8AC3E}">
        <p14:creationId xmlns:p14="http://schemas.microsoft.com/office/powerpoint/2010/main" val="3391129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1A782-5902-A4DD-9591-C0EA56DBC7F0}"/>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EB54AEB9-6477-CC5C-E3EE-5AD6DC8689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77B642D-D5A2-B748-E308-25106C66FB79}"/>
              </a:ext>
            </a:extLst>
          </p:cNvPr>
          <p:cNvSpPr>
            <a:spLocks noGrp="1"/>
          </p:cNvSpPr>
          <p:nvPr>
            <p:ph type="dt" sz="half" idx="10"/>
          </p:nvPr>
        </p:nvSpPr>
        <p:spPr/>
        <p:txBody>
          <a:bodyPr/>
          <a:lstStyle/>
          <a:p>
            <a:fld id="{ADFE6C67-7534-49D9-A2B3-3649C782B68D}" type="datetimeFigureOut">
              <a:rPr lang="en-SG" smtClean="0"/>
              <a:t>24/3/2026</a:t>
            </a:fld>
            <a:endParaRPr lang="en-SG"/>
          </a:p>
        </p:txBody>
      </p:sp>
      <p:sp>
        <p:nvSpPr>
          <p:cNvPr id="5" name="Footer Placeholder 4">
            <a:extLst>
              <a:ext uri="{FF2B5EF4-FFF2-40B4-BE49-F238E27FC236}">
                <a16:creationId xmlns:a16="http://schemas.microsoft.com/office/drawing/2014/main" id="{71605350-CF7D-963F-9CBE-63B65DE2B87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8552424-C9E3-FB4A-2756-D50B349A5517}"/>
              </a:ext>
            </a:extLst>
          </p:cNvPr>
          <p:cNvSpPr>
            <a:spLocks noGrp="1"/>
          </p:cNvSpPr>
          <p:nvPr>
            <p:ph type="sldNum" sz="quarter" idx="12"/>
          </p:nvPr>
        </p:nvSpPr>
        <p:spPr/>
        <p:txBody>
          <a:bodyPr/>
          <a:lstStyle/>
          <a:p>
            <a:fld id="{573B0989-EA9D-4C59-804D-1B88051F29F3}" type="slidenum">
              <a:rPr lang="en-SG" smtClean="0"/>
              <a:t>‹#›</a:t>
            </a:fld>
            <a:endParaRPr lang="en-SG"/>
          </a:p>
        </p:txBody>
      </p:sp>
    </p:spTree>
    <p:extLst>
      <p:ext uri="{BB962C8B-B14F-4D97-AF65-F5344CB8AC3E}">
        <p14:creationId xmlns:p14="http://schemas.microsoft.com/office/powerpoint/2010/main" val="3035835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894B54-C522-DD25-ABB9-D3F298350AB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AE5F0CA0-47FF-27BD-56F8-7BD4AA5381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62CA49D2-FA7F-1686-2E34-970ADFA1CE16}"/>
              </a:ext>
            </a:extLst>
          </p:cNvPr>
          <p:cNvSpPr>
            <a:spLocks noGrp="1"/>
          </p:cNvSpPr>
          <p:nvPr>
            <p:ph type="dt" sz="half" idx="10"/>
          </p:nvPr>
        </p:nvSpPr>
        <p:spPr/>
        <p:txBody>
          <a:bodyPr/>
          <a:lstStyle/>
          <a:p>
            <a:fld id="{ADFE6C67-7534-49D9-A2B3-3649C782B68D}" type="datetimeFigureOut">
              <a:rPr lang="en-SG" smtClean="0"/>
              <a:t>24/3/2026</a:t>
            </a:fld>
            <a:endParaRPr lang="en-SG"/>
          </a:p>
        </p:txBody>
      </p:sp>
      <p:sp>
        <p:nvSpPr>
          <p:cNvPr id="5" name="Footer Placeholder 4">
            <a:extLst>
              <a:ext uri="{FF2B5EF4-FFF2-40B4-BE49-F238E27FC236}">
                <a16:creationId xmlns:a16="http://schemas.microsoft.com/office/drawing/2014/main" id="{211125BE-F0BB-3845-2AD7-CE6E4F963D89}"/>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6342430-D9A3-0C1F-1718-41DDA73E56FF}"/>
              </a:ext>
            </a:extLst>
          </p:cNvPr>
          <p:cNvSpPr>
            <a:spLocks noGrp="1"/>
          </p:cNvSpPr>
          <p:nvPr>
            <p:ph type="sldNum" sz="quarter" idx="12"/>
          </p:nvPr>
        </p:nvSpPr>
        <p:spPr/>
        <p:txBody>
          <a:bodyPr/>
          <a:lstStyle/>
          <a:p>
            <a:fld id="{573B0989-EA9D-4C59-804D-1B88051F29F3}" type="slidenum">
              <a:rPr lang="en-SG" smtClean="0"/>
              <a:t>‹#›</a:t>
            </a:fld>
            <a:endParaRPr lang="en-SG"/>
          </a:p>
        </p:txBody>
      </p:sp>
    </p:spTree>
    <p:extLst>
      <p:ext uri="{BB962C8B-B14F-4D97-AF65-F5344CB8AC3E}">
        <p14:creationId xmlns:p14="http://schemas.microsoft.com/office/powerpoint/2010/main" val="38579746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with Caption">
  <p:cSld name="1_Content with Caption">
    <p:spTree>
      <p:nvGrpSpPr>
        <p:cNvPr id="1" name="Shape 47"/>
        <p:cNvGrpSpPr/>
        <p:nvPr/>
      </p:nvGrpSpPr>
      <p:grpSpPr>
        <a:xfrm>
          <a:off x="0" y="0"/>
          <a:ext cx="0" cy="0"/>
          <a:chOff x="0" y="0"/>
          <a:chExt cx="0" cy="0"/>
        </a:xfrm>
      </p:grpSpPr>
      <p:sp>
        <p:nvSpPr>
          <p:cNvPr id="48" name="Google Shape;48;p18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8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0" name="Google Shape;50;p18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dirty="0"/>
          </a:p>
        </p:txBody>
      </p:sp>
      <p:sp>
        <p:nvSpPr>
          <p:cNvPr id="51" name="Google Shape;51;p18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8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8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54" name="Google Shape;54;p189"/>
          <p:cNvPicPr preferRelativeResize="0"/>
          <p:nvPr/>
        </p:nvPicPr>
        <p:blipFill rotWithShape="1">
          <a:blip r:embed="rId2">
            <a:alphaModFix/>
          </a:blip>
          <a:srcRect/>
          <a:stretch/>
        </p:blipFill>
        <p:spPr>
          <a:xfrm>
            <a:off x="0" y="5727192"/>
            <a:ext cx="12192000" cy="1130808"/>
          </a:xfrm>
          <a:prstGeom prst="rect">
            <a:avLst/>
          </a:prstGeom>
          <a:noFill/>
          <a:ln>
            <a:noFill/>
          </a:ln>
        </p:spPr>
      </p:pic>
      <p:pic>
        <p:nvPicPr>
          <p:cNvPr id="3" name="Picture 2">
            <a:extLst>
              <a:ext uri="{FF2B5EF4-FFF2-40B4-BE49-F238E27FC236}">
                <a16:creationId xmlns:a16="http://schemas.microsoft.com/office/drawing/2014/main" id="{9A2F302C-D307-D42E-D343-E75A56728B9E}"/>
              </a:ext>
            </a:extLst>
          </p:cNvPr>
          <p:cNvPicPr>
            <a:picLocks noChangeAspect="1"/>
          </p:cNvPicPr>
          <p:nvPr userDrawn="1"/>
        </p:nvPicPr>
        <p:blipFill>
          <a:blip r:embed="rId3"/>
          <a:stretch>
            <a:fillRect/>
          </a:stretch>
        </p:blipFill>
        <p:spPr>
          <a:xfrm rot="10800000" flipH="1" flipV="1">
            <a:off x="191294" y="6022059"/>
            <a:ext cx="836612" cy="668582"/>
          </a:xfrm>
          <a:prstGeom prst="rect">
            <a:avLst/>
          </a:prstGeom>
        </p:spPr>
      </p:pic>
    </p:spTree>
    <p:extLst>
      <p:ext uri="{BB962C8B-B14F-4D97-AF65-F5344CB8AC3E}">
        <p14:creationId xmlns:p14="http://schemas.microsoft.com/office/powerpoint/2010/main" val="152112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69D608-6433-E44B-5D51-5EDBD5E30B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002F0683-265F-CF2C-2189-11FC5EC416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B9B102C-C4AA-2BDF-6093-AB7ACC326D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DFE6C67-7534-49D9-A2B3-3649C782B68D}" type="datetimeFigureOut">
              <a:rPr lang="en-SG" smtClean="0"/>
              <a:t>24/3/2026</a:t>
            </a:fld>
            <a:endParaRPr lang="en-SG"/>
          </a:p>
        </p:txBody>
      </p:sp>
      <p:sp>
        <p:nvSpPr>
          <p:cNvPr id="5" name="Footer Placeholder 4">
            <a:extLst>
              <a:ext uri="{FF2B5EF4-FFF2-40B4-BE49-F238E27FC236}">
                <a16:creationId xmlns:a16="http://schemas.microsoft.com/office/drawing/2014/main" id="{7AE36D4E-9107-EBB8-572C-AFB7EEFA22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9A696839-942E-76CD-C242-1E3253FF9A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3B0989-EA9D-4C59-804D-1B88051F29F3}" type="slidenum">
              <a:rPr lang="en-SG" smtClean="0"/>
              <a:t>‹#›</a:t>
            </a:fld>
            <a:endParaRPr lang="en-SG"/>
          </a:p>
        </p:txBody>
      </p:sp>
    </p:spTree>
    <p:extLst>
      <p:ext uri="{BB962C8B-B14F-4D97-AF65-F5344CB8AC3E}">
        <p14:creationId xmlns:p14="http://schemas.microsoft.com/office/powerpoint/2010/main" val="2388339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8.jp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chart" Target="../charts/char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CONFIDENTIAL</a:t>
            </a:r>
            <a:endParaRPr/>
          </a:p>
        </p:txBody>
      </p:sp>
      <p:sp>
        <p:nvSpPr>
          <p:cNvPr id="370" name="Google Shape;37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
        <p:nvSpPr>
          <p:cNvPr id="371" name="Google Shape;371;p8"/>
          <p:cNvSpPr txBox="1">
            <a:spLocks noGrp="1"/>
          </p:cNvSpPr>
          <p:nvPr>
            <p:ph type="body" idx="4294967295"/>
          </p:nvPr>
        </p:nvSpPr>
        <p:spPr>
          <a:xfrm>
            <a:off x="4734886" y="4398168"/>
            <a:ext cx="6898314" cy="150018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accent2"/>
              </a:buClr>
              <a:buSzPts val="3200"/>
              <a:buChar char="•"/>
            </a:pPr>
            <a:r>
              <a:rPr lang="en-US" sz="3200" b="1" i="1">
                <a:solidFill>
                  <a:schemeClr val="accent2"/>
                </a:solidFill>
                <a:latin typeface="Cambria"/>
                <a:ea typeface="Cambria"/>
                <a:cs typeface="Cambria"/>
                <a:sym typeface="Cambria"/>
              </a:rPr>
              <a:t>CHIP</a:t>
            </a:r>
            <a:r>
              <a:rPr lang="en-US" sz="3600">
                <a:solidFill>
                  <a:schemeClr val="accent2"/>
                </a:solidFill>
                <a:latin typeface="Cambria"/>
                <a:ea typeface="Cambria"/>
                <a:cs typeface="Cambria"/>
                <a:sym typeface="Cambria"/>
              </a:rPr>
              <a:t> </a:t>
            </a:r>
            <a:r>
              <a:rPr lang="en-US">
                <a:latin typeface="Cambria"/>
                <a:ea typeface="Cambria"/>
                <a:cs typeface="Cambria"/>
                <a:sym typeface="Cambria"/>
              </a:rPr>
              <a:t>is a very generic term in the market, but these can be sub-divided into different Families</a:t>
            </a:r>
            <a:endParaRPr/>
          </a:p>
        </p:txBody>
      </p:sp>
      <p:sp>
        <p:nvSpPr>
          <p:cNvPr id="372" name="Google Shape;372;p8"/>
          <p:cNvSpPr/>
          <p:nvPr/>
        </p:nvSpPr>
        <p:spPr>
          <a:xfrm>
            <a:off x="5649221" y="426067"/>
            <a:ext cx="5334409"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rgbClr val="1E4E79"/>
                </a:solidFill>
                <a:latin typeface="Calibri"/>
                <a:ea typeface="Calibri"/>
                <a:cs typeface="Calibri"/>
                <a:sym typeface="Calibri"/>
              </a:rPr>
              <a:t>Integrated Circuits</a:t>
            </a:r>
            <a:endParaRPr sz="1400" b="0" i="0" u="none" strike="noStrike" cap="none">
              <a:solidFill>
                <a:srgbClr val="000000"/>
              </a:solidFill>
              <a:latin typeface="Arial"/>
              <a:ea typeface="Arial"/>
              <a:cs typeface="Arial"/>
              <a:sym typeface="Arial"/>
            </a:endParaRPr>
          </a:p>
        </p:txBody>
      </p:sp>
      <p:sp>
        <p:nvSpPr>
          <p:cNvPr id="373" name="Google Shape;373;p8"/>
          <p:cNvSpPr/>
          <p:nvPr/>
        </p:nvSpPr>
        <p:spPr>
          <a:xfrm>
            <a:off x="4887217" y="1883226"/>
            <a:ext cx="2061783"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1" i="0" u="none" strike="noStrike" cap="none">
                <a:solidFill>
                  <a:srgbClr val="0070C0"/>
                </a:solidFill>
                <a:latin typeface="Calibri"/>
                <a:ea typeface="Calibri"/>
                <a:cs typeface="Calibri"/>
                <a:sym typeface="Calibri"/>
              </a:rPr>
              <a:t>MEMS</a:t>
            </a:r>
            <a:endParaRPr sz="1400" b="0" i="0" u="none" strike="noStrike" cap="none">
              <a:solidFill>
                <a:srgbClr val="0070C0"/>
              </a:solidFill>
              <a:latin typeface="Arial"/>
              <a:ea typeface="Arial"/>
              <a:cs typeface="Arial"/>
              <a:sym typeface="Arial"/>
            </a:endParaRPr>
          </a:p>
        </p:txBody>
      </p:sp>
      <p:sp>
        <p:nvSpPr>
          <p:cNvPr id="374" name="Google Shape;374;p8"/>
          <p:cNvSpPr/>
          <p:nvPr/>
        </p:nvSpPr>
        <p:spPr>
          <a:xfrm>
            <a:off x="6385513" y="3039384"/>
            <a:ext cx="5034840"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1" i="1" u="none" strike="noStrike" cap="none">
                <a:solidFill>
                  <a:srgbClr val="262626"/>
                </a:solidFill>
                <a:latin typeface="Calibri"/>
                <a:ea typeface="Calibri"/>
                <a:cs typeface="Calibri"/>
                <a:sym typeface="Calibri"/>
              </a:rPr>
              <a:t>Silicon Photonics</a:t>
            </a:r>
            <a:endParaRPr sz="1400" b="0" i="1" u="none" strike="noStrike" cap="none">
              <a:solidFill>
                <a:srgbClr val="000000"/>
              </a:solidFill>
              <a:latin typeface="Arial"/>
              <a:ea typeface="Arial"/>
              <a:cs typeface="Arial"/>
              <a:sym typeface="Arial"/>
            </a:endParaRPr>
          </a:p>
        </p:txBody>
      </p:sp>
      <p:sp>
        <p:nvSpPr>
          <p:cNvPr id="375" name="Google Shape;375;p8"/>
          <p:cNvSpPr/>
          <p:nvPr/>
        </p:nvSpPr>
        <p:spPr>
          <a:xfrm>
            <a:off x="6859233" y="2306006"/>
            <a:ext cx="4561120"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accent1"/>
                </a:solidFill>
                <a:latin typeface="Arial Black"/>
                <a:ea typeface="Arial Black"/>
                <a:cs typeface="Arial Black"/>
                <a:sym typeface="Arial Black"/>
              </a:rPr>
              <a:t>(Microelectromechanical systems)</a:t>
            </a:r>
            <a:endParaRPr sz="5400" b="1" i="0" u="none" strike="noStrike" cap="none">
              <a:solidFill>
                <a:schemeClr val="accent1"/>
              </a:solidFill>
              <a:latin typeface="Arial Black"/>
              <a:ea typeface="Arial Black"/>
              <a:cs typeface="Arial Black"/>
              <a:sym typeface="Arial Black"/>
            </a:endParaRPr>
          </a:p>
        </p:txBody>
      </p:sp>
      <p:sp>
        <p:nvSpPr>
          <p:cNvPr id="376" name="Google Shape;376;p8"/>
          <p:cNvSpPr/>
          <p:nvPr/>
        </p:nvSpPr>
        <p:spPr>
          <a:xfrm>
            <a:off x="446294" y="2990134"/>
            <a:ext cx="3917098"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US" sz="4400" b="1" i="0" u="none" strike="noStrike" cap="none">
                <a:solidFill>
                  <a:srgbClr val="262626"/>
                </a:solidFill>
                <a:latin typeface="Cambria"/>
                <a:ea typeface="Cambria"/>
                <a:cs typeface="Cambria"/>
                <a:sym typeface="Cambria"/>
              </a:rPr>
              <a:t>Types of Chips</a:t>
            </a:r>
            <a:endParaRPr sz="4400" b="1" i="0" u="none" strike="noStrike" cap="none">
              <a:solidFill>
                <a:srgbClr val="262626"/>
              </a:solidFill>
              <a:latin typeface="Cambria"/>
              <a:ea typeface="Cambria"/>
              <a:cs typeface="Cambria"/>
              <a:sym typeface="Cambria"/>
            </a:endParaRPr>
          </a:p>
        </p:txBody>
      </p:sp>
      <p:pic>
        <p:nvPicPr>
          <p:cNvPr id="377" name="Google Shape;377;p8"/>
          <p:cNvPicPr preferRelativeResize="0"/>
          <p:nvPr/>
        </p:nvPicPr>
        <p:blipFill rotWithShape="1">
          <a:blip r:embed="rId3">
            <a:alphaModFix/>
          </a:blip>
          <a:srcRect/>
          <a:stretch/>
        </p:blipFill>
        <p:spPr>
          <a:xfrm>
            <a:off x="254524" y="1883226"/>
            <a:ext cx="2212743" cy="115615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10"/>
          <p:cNvSpPr txBox="1">
            <a:spLocks noGrp="1"/>
          </p:cNvSpPr>
          <p:nvPr>
            <p:ph type="title"/>
          </p:nvPr>
        </p:nvSpPr>
        <p:spPr>
          <a:xfrm>
            <a:off x="563957" y="428846"/>
            <a:ext cx="6724122" cy="787021"/>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Arial"/>
              <a:buNone/>
            </a:pPr>
            <a:r>
              <a:rPr lang="en-US" sz="4400" b="1">
                <a:latin typeface="Cambria"/>
                <a:ea typeface="Cambria"/>
                <a:cs typeface="Cambria"/>
                <a:sym typeface="Cambria"/>
              </a:rPr>
              <a:t>What are MEMS</a:t>
            </a:r>
            <a:endParaRPr>
              <a:latin typeface="Cambria"/>
              <a:ea typeface="Cambria"/>
              <a:cs typeface="Cambria"/>
              <a:sym typeface="Cambria"/>
            </a:endParaRPr>
          </a:p>
        </p:txBody>
      </p:sp>
      <p:sp>
        <p:nvSpPr>
          <p:cNvPr id="393" name="Google Shape;39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CONFIDENTIAL</a:t>
            </a:r>
            <a:endParaRPr/>
          </a:p>
        </p:txBody>
      </p:sp>
      <p:sp>
        <p:nvSpPr>
          <p:cNvPr id="394" name="Google Shape;39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pic>
        <p:nvPicPr>
          <p:cNvPr id="395" name="Google Shape;395;p10"/>
          <p:cNvPicPr preferRelativeResize="0"/>
          <p:nvPr/>
        </p:nvPicPr>
        <p:blipFill rotWithShape="1">
          <a:blip r:embed="rId3">
            <a:alphaModFix/>
          </a:blip>
          <a:srcRect/>
          <a:stretch/>
        </p:blipFill>
        <p:spPr>
          <a:xfrm>
            <a:off x="169814" y="1482983"/>
            <a:ext cx="4177331" cy="4220996"/>
          </a:xfrm>
          <a:prstGeom prst="rect">
            <a:avLst/>
          </a:prstGeom>
          <a:noFill/>
          <a:ln>
            <a:noFill/>
          </a:ln>
        </p:spPr>
      </p:pic>
      <p:sp>
        <p:nvSpPr>
          <p:cNvPr id="396" name="Google Shape;396;p10"/>
          <p:cNvSpPr txBox="1"/>
          <p:nvPr/>
        </p:nvSpPr>
        <p:spPr>
          <a:xfrm>
            <a:off x="4641027" y="1667865"/>
            <a:ext cx="6970816"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Think of MEMS devices as the interface between the digital realm and the analogue world.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The digital IC comprises of ‘1’s and ‘0’s, whilst the MEMS devices are sensors and actuators.</a:t>
            </a:r>
            <a:endParaRPr sz="1400" b="0" i="0" u="none" strike="noStrike" cap="none">
              <a:solidFill>
                <a:srgbClr val="000000"/>
              </a:solidFill>
              <a:latin typeface="Arial"/>
              <a:ea typeface="Arial"/>
              <a:cs typeface="Arial"/>
              <a:sym typeface="Arial"/>
            </a:endParaRPr>
          </a:p>
        </p:txBody>
      </p:sp>
      <p:pic>
        <p:nvPicPr>
          <p:cNvPr id="397" name="Google Shape;397;p10" descr="The Technology Behind Accelerometers | Seebo Blog"/>
          <p:cNvPicPr preferRelativeResize="0"/>
          <p:nvPr/>
        </p:nvPicPr>
        <p:blipFill rotWithShape="1">
          <a:blip r:embed="rId4">
            <a:alphaModFix/>
          </a:blip>
          <a:srcRect/>
          <a:stretch/>
        </p:blipFill>
        <p:spPr>
          <a:xfrm>
            <a:off x="4451023" y="3467512"/>
            <a:ext cx="2543175" cy="1800225"/>
          </a:xfrm>
          <a:prstGeom prst="rect">
            <a:avLst/>
          </a:prstGeom>
          <a:noFill/>
          <a:ln>
            <a:noFill/>
          </a:ln>
        </p:spPr>
      </p:pic>
      <p:pic>
        <p:nvPicPr>
          <p:cNvPr id="398" name="Google Shape;398;p10" descr="4 . MEMS Gyroscope (Image courtesy of Douglas Sparks of Delco ..."/>
          <p:cNvPicPr preferRelativeResize="0"/>
          <p:nvPr/>
        </p:nvPicPr>
        <p:blipFill rotWithShape="1">
          <a:blip r:embed="rId5">
            <a:alphaModFix/>
          </a:blip>
          <a:srcRect/>
          <a:stretch/>
        </p:blipFill>
        <p:spPr>
          <a:xfrm>
            <a:off x="9851323" y="3467512"/>
            <a:ext cx="2033275" cy="1824864"/>
          </a:xfrm>
          <a:prstGeom prst="rect">
            <a:avLst/>
          </a:prstGeom>
          <a:noFill/>
          <a:ln>
            <a:noFill/>
          </a:ln>
        </p:spPr>
      </p:pic>
      <p:pic>
        <p:nvPicPr>
          <p:cNvPr id="399" name="Google Shape;399;p10" descr="MEMS for the Automotive Industry | Electronics360"/>
          <p:cNvPicPr preferRelativeResize="0"/>
          <p:nvPr/>
        </p:nvPicPr>
        <p:blipFill rotWithShape="1">
          <a:blip r:embed="rId6">
            <a:alphaModFix/>
          </a:blip>
          <a:srcRect/>
          <a:stretch/>
        </p:blipFill>
        <p:spPr>
          <a:xfrm>
            <a:off x="7288079" y="3467512"/>
            <a:ext cx="2269362" cy="1769030"/>
          </a:xfrm>
          <a:prstGeom prst="rect">
            <a:avLst/>
          </a:prstGeom>
          <a:noFill/>
          <a:ln>
            <a:noFill/>
          </a:ln>
        </p:spPr>
      </p:pic>
      <p:sp>
        <p:nvSpPr>
          <p:cNvPr id="400" name="Google Shape;400;p10"/>
          <p:cNvSpPr/>
          <p:nvPr/>
        </p:nvSpPr>
        <p:spPr>
          <a:xfrm>
            <a:off x="4803929" y="5288635"/>
            <a:ext cx="1837362"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accent1"/>
                </a:solidFill>
                <a:latin typeface="Arial"/>
                <a:ea typeface="Arial"/>
                <a:cs typeface="Arial"/>
                <a:sym typeface="Arial"/>
              </a:rPr>
              <a:t>Accelerometer</a:t>
            </a:r>
            <a:endParaRPr sz="1400" b="0" i="0" u="none" strike="noStrike" cap="none">
              <a:solidFill>
                <a:srgbClr val="000000"/>
              </a:solidFill>
              <a:latin typeface="Arial"/>
              <a:ea typeface="Arial"/>
              <a:cs typeface="Arial"/>
              <a:sym typeface="Arial"/>
            </a:endParaRPr>
          </a:p>
        </p:txBody>
      </p:sp>
      <p:sp>
        <p:nvSpPr>
          <p:cNvPr id="401" name="Google Shape;401;p10"/>
          <p:cNvSpPr/>
          <p:nvPr/>
        </p:nvSpPr>
        <p:spPr>
          <a:xfrm>
            <a:off x="10254024" y="5305738"/>
            <a:ext cx="1423788"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accent1"/>
                </a:solidFill>
                <a:latin typeface="Arial"/>
                <a:ea typeface="Arial"/>
                <a:cs typeface="Arial"/>
                <a:sym typeface="Arial"/>
              </a:rPr>
              <a:t>Gyroscope</a:t>
            </a:r>
            <a:endParaRPr sz="1400" b="0" i="0" u="none" strike="noStrike" cap="none">
              <a:solidFill>
                <a:srgbClr val="000000"/>
              </a:solidFill>
              <a:latin typeface="Arial"/>
              <a:ea typeface="Arial"/>
              <a:cs typeface="Arial"/>
              <a:sym typeface="Arial"/>
            </a:endParaRPr>
          </a:p>
        </p:txBody>
      </p:sp>
      <p:sp>
        <p:nvSpPr>
          <p:cNvPr id="402" name="Google Shape;402;p10"/>
          <p:cNvSpPr/>
          <p:nvPr/>
        </p:nvSpPr>
        <p:spPr>
          <a:xfrm>
            <a:off x="7903277" y="5305738"/>
            <a:ext cx="881973"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accent1"/>
                </a:solidFill>
                <a:latin typeface="Arial"/>
                <a:ea typeface="Arial"/>
                <a:cs typeface="Arial"/>
                <a:sym typeface="Arial"/>
              </a:rPr>
              <a:t>Gears</a:t>
            </a:r>
            <a:endParaRPr sz="1400" b="0" i="0" u="none" strike="noStrike" cap="none">
              <a:solidFill>
                <a:srgbClr val="000000"/>
              </a:solidFill>
              <a:latin typeface="Arial"/>
              <a:ea typeface="Arial"/>
              <a:cs typeface="Arial"/>
              <a:sym typeface="Arial"/>
            </a:endParaRPr>
          </a:p>
        </p:txBody>
      </p:sp>
      <p:sp>
        <p:nvSpPr>
          <p:cNvPr id="403" name="Google Shape;403;p10"/>
          <p:cNvSpPr txBox="1"/>
          <p:nvPr/>
        </p:nvSpPr>
        <p:spPr>
          <a:xfrm>
            <a:off x="4451023" y="723449"/>
            <a:ext cx="609414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accent1"/>
                </a:solidFill>
                <a:latin typeface="Arial Black"/>
                <a:ea typeface="Arial Black"/>
                <a:cs typeface="Arial Black"/>
                <a:sym typeface="Arial Black"/>
              </a:rPr>
              <a:t>(Micro/electro/mechanical/systems)</a:t>
            </a:r>
            <a:endParaRPr sz="6000" b="1" i="0" u="none" strike="noStrike" cap="none">
              <a:solidFill>
                <a:schemeClr val="accent1"/>
              </a:solidFill>
              <a:latin typeface="Arial Black"/>
              <a:ea typeface="Arial Black"/>
              <a:cs typeface="Arial Black"/>
              <a:sym typeface="Arial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CONFIDENTIAL</a:t>
            </a:r>
            <a:endParaRPr/>
          </a:p>
        </p:txBody>
      </p:sp>
      <p:sp>
        <p:nvSpPr>
          <p:cNvPr id="609" name="Google Shape;60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610" name="Google Shape;610;p23"/>
          <p:cNvSpPr txBox="1"/>
          <p:nvPr/>
        </p:nvSpPr>
        <p:spPr>
          <a:xfrm>
            <a:off x="212962" y="461573"/>
            <a:ext cx="8098933"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400"/>
              <a:buFont typeface="Arial"/>
              <a:buNone/>
            </a:pPr>
            <a:r>
              <a:rPr lang="en-US" sz="4400" b="0" i="0" u="none" strike="noStrike" cap="none">
                <a:solidFill>
                  <a:srgbClr val="0070C0"/>
                </a:solidFill>
                <a:latin typeface="Cambria"/>
                <a:ea typeface="Cambria"/>
                <a:cs typeface="Cambria"/>
                <a:sym typeface="Cambria"/>
              </a:rPr>
              <a:t>Process Modules In the Fab</a:t>
            </a:r>
            <a:endParaRPr sz="2400" b="0" i="0" u="none" strike="noStrike" cap="none">
              <a:solidFill>
                <a:srgbClr val="0070C0"/>
              </a:solidFill>
              <a:latin typeface="Cambria"/>
              <a:ea typeface="Cambria"/>
              <a:cs typeface="Cambria"/>
              <a:sym typeface="Cambria"/>
            </a:endParaRPr>
          </a:p>
        </p:txBody>
      </p:sp>
      <p:sp>
        <p:nvSpPr>
          <p:cNvPr id="611" name="Google Shape;611;p23"/>
          <p:cNvSpPr/>
          <p:nvPr/>
        </p:nvSpPr>
        <p:spPr>
          <a:xfrm>
            <a:off x="1189974" y="1508180"/>
            <a:ext cx="2116896" cy="1753644"/>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Photolithography</a:t>
            </a:r>
            <a:endParaRPr sz="1400" b="0" i="0" u="none" strike="noStrike" cap="none">
              <a:solidFill>
                <a:srgbClr val="000000"/>
              </a:solidFill>
              <a:latin typeface="Arial"/>
              <a:ea typeface="Arial"/>
              <a:cs typeface="Arial"/>
              <a:sym typeface="Arial"/>
            </a:endParaRPr>
          </a:p>
        </p:txBody>
      </p:sp>
      <p:sp>
        <p:nvSpPr>
          <p:cNvPr id="612" name="Google Shape;612;p23"/>
          <p:cNvSpPr/>
          <p:nvPr/>
        </p:nvSpPr>
        <p:spPr>
          <a:xfrm>
            <a:off x="3450930" y="1508180"/>
            <a:ext cx="1146085" cy="1753644"/>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Etching</a:t>
            </a:r>
            <a:endParaRPr sz="1400" b="0" i="0" u="none" strike="noStrike" cap="none">
              <a:solidFill>
                <a:srgbClr val="000000"/>
              </a:solidFill>
              <a:latin typeface="Arial"/>
              <a:ea typeface="Arial"/>
              <a:cs typeface="Arial"/>
              <a:sym typeface="Arial"/>
            </a:endParaRPr>
          </a:p>
        </p:txBody>
      </p:sp>
      <p:sp>
        <p:nvSpPr>
          <p:cNvPr id="613" name="Google Shape;613;p23"/>
          <p:cNvSpPr/>
          <p:nvPr/>
        </p:nvSpPr>
        <p:spPr>
          <a:xfrm>
            <a:off x="4741076" y="1499436"/>
            <a:ext cx="1860103" cy="1753644"/>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Chemical Vapor Deposition (CVD)</a:t>
            </a:r>
            <a:endParaRPr sz="1400" b="0" i="0" u="none" strike="noStrike" cap="none">
              <a:solidFill>
                <a:srgbClr val="000000"/>
              </a:solidFill>
              <a:latin typeface="Arial"/>
              <a:ea typeface="Arial"/>
              <a:cs typeface="Arial"/>
              <a:sym typeface="Arial"/>
            </a:endParaRPr>
          </a:p>
        </p:txBody>
      </p:sp>
      <p:sp>
        <p:nvSpPr>
          <p:cNvPr id="614" name="Google Shape;614;p23"/>
          <p:cNvSpPr/>
          <p:nvPr/>
        </p:nvSpPr>
        <p:spPr>
          <a:xfrm>
            <a:off x="6745240" y="1499436"/>
            <a:ext cx="1860103" cy="1753644"/>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Physical Vapor Deposition (PVD)</a:t>
            </a:r>
            <a:endParaRPr sz="1400" b="0" i="0" u="none" strike="noStrike" cap="none">
              <a:solidFill>
                <a:srgbClr val="000000"/>
              </a:solidFill>
              <a:latin typeface="Arial"/>
              <a:ea typeface="Arial"/>
              <a:cs typeface="Arial"/>
              <a:sym typeface="Arial"/>
            </a:endParaRPr>
          </a:p>
        </p:txBody>
      </p:sp>
      <p:sp>
        <p:nvSpPr>
          <p:cNvPr id="615" name="Google Shape;615;p23"/>
          <p:cNvSpPr/>
          <p:nvPr/>
        </p:nvSpPr>
        <p:spPr>
          <a:xfrm>
            <a:off x="8749404" y="1499436"/>
            <a:ext cx="1860103" cy="1753644"/>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Chemical Mechanical Polishing (CMP</a:t>
            </a:r>
            <a:r>
              <a:rPr lang="en-US" sz="1800" b="0" i="0" u="none" strike="noStrike" cap="none">
                <a:solidFill>
                  <a:schemeClr val="lt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616" name="Google Shape;616;p23"/>
          <p:cNvSpPr/>
          <p:nvPr/>
        </p:nvSpPr>
        <p:spPr>
          <a:xfrm>
            <a:off x="1306928" y="3790004"/>
            <a:ext cx="1561532" cy="1753644"/>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Diffusion</a:t>
            </a:r>
            <a:endParaRPr sz="1400" b="0" i="0" u="none" strike="noStrike" cap="none">
              <a:solidFill>
                <a:srgbClr val="000000"/>
              </a:solidFill>
              <a:latin typeface="Arial"/>
              <a:ea typeface="Arial"/>
              <a:cs typeface="Arial"/>
              <a:sym typeface="Arial"/>
            </a:endParaRPr>
          </a:p>
        </p:txBody>
      </p:sp>
      <p:sp>
        <p:nvSpPr>
          <p:cNvPr id="617" name="Google Shape;617;p23"/>
          <p:cNvSpPr/>
          <p:nvPr/>
        </p:nvSpPr>
        <p:spPr>
          <a:xfrm>
            <a:off x="3067895" y="3790004"/>
            <a:ext cx="1705593" cy="1753644"/>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Implantation</a:t>
            </a:r>
            <a:endParaRPr sz="1400" b="0" i="0" u="none" strike="noStrike" cap="none">
              <a:solidFill>
                <a:srgbClr val="000000"/>
              </a:solidFill>
              <a:latin typeface="Arial"/>
              <a:ea typeface="Arial"/>
              <a:cs typeface="Arial"/>
              <a:sym typeface="Arial"/>
            </a:endParaRPr>
          </a:p>
        </p:txBody>
      </p:sp>
      <p:sp>
        <p:nvSpPr>
          <p:cNvPr id="618" name="Google Shape;618;p23"/>
          <p:cNvSpPr/>
          <p:nvPr/>
        </p:nvSpPr>
        <p:spPr>
          <a:xfrm>
            <a:off x="4967651" y="3790004"/>
            <a:ext cx="1530229" cy="1753644"/>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Cleaning</a:t>
            </a:r>
            <a:endParaRPr sz="1400" b="0" i="0" u="none" strike="noStrike" cap="none">
              <a:solidFill>
                <a:srgbClr val="000000"/>
              </a:solidFill>
              <a:latin typeface="Arial"/>
              <a:ea typeface="Arial"/>
              <a:cs typeface="Arial"/>
              <a:sym typeface="Arial"/>
            </a:endParaRPr>
          </a:p>
        </p:txBody>
      </p:sp>
      <p:sp>
        <p:nvSpPr>
          <p:cNvPr id="619" name="Google Shape;619;p23"/>
          <p:cNvSpPr/>
          <p:nvPr/>
        </p:nvSpPr>
        <p:spPr>
          <a:xfrm>
            <a:off x="6692043" y="3790004"/>
            <a:ext cx="1530229" cy="1753644"/>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Yield Defect Density (YDD)</a:t>
            </a:r>
            <a:endParaRPr sz="1400" b="0" i="0" u="none" strike="noStrike" cap="none">
              <a:solidFill>
                <a:srgbClr val="000000"/>
              </a:solidFill>
              <a:latin typeface="Arial"/>
              <a:ea typeface="Arial"/>
              <a:cs typeface="Arial"/>
              <a:sym typeface="Arial"/>
            </a:endParaRPr>
          </a:p>
        </p:txBody>
      </p:sp>
      <p:sp>
        <p:nvSpPr>
          <p:cNvPr id="620" name="Google Shape;620;p23"/>
          <p:cNvSpPr/>
          <p:nvPr/>
        </p:nvSpPr>
        <p:spPr>
          <a:xfrm>
            <a:off x="8416435" y="3790004"/>
            <a:ext cx="1530229" cy="1753644"/>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In-line Testing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CONFIDENTIAL</a:t>
            </a:r>
            <a:endParaRPr/>
          </a:p>
        </p:txBody>
      </p:sp>
      <p:sp>
        <p:nvSpPr>
          <p:cNvPr id="626" name="Google Shape;62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pic>
        <p:nvPicPr>
          <p:cNvPr id="627" name="Google Shape;627;p24" descr="Advanced position encoders in photolithography"/>
          <p:cNvPicPr preferRelativeResize="0"/>
          <p:nvPr/>
        </p:nvPicPr>
        <p:blipFill rotWithShape="1">
          <a:blip r:embed="rId3">
            <a:alphaModFix/>
          </a:blip>
          <a:srcRect/>
          <a:stretch/>
        </p:blipFill>
        <p:spPr>
          <a:xfrm>
            <a:off x="5242580" y="1101844"/>
            <a:ext cx="6455007" cy="4835024"/>
          </a:xfrm>
          <a:prstGeom prst="rect">
            <a:avLst/>
          </a:prstGeom>
          <a:noFill/>
          <a:ln>
            <a:noFill/>
          </a:ln>
        </p:spPr>
      </p:pic>
      <p:sp>
        <p:nvSpPr>
          <p:cNvPr id="628" name="Google Shape;628;p24"/>
          <p:cNvSpPr/>
          <p:nvPr/>
        </p:nvSpPr>
        <p:spPr>
          <a:xfrm>
            <a:off x="174953" y="3013501"/>
            <a:ext cx="4811825"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US" sz="4400" b="1" i="0" u="none" strike="noStrike" cap="none">
                <a:solidFill>
                  <a:schemeClr val="dk1"/>
                </a:solidFill>
                <a:latin typeface="Cambria"/>
                <a:ea typeface="Cambria"/>
                <a:cs typeface="Cambria"/>
                <a:sym typeface="Cambria"/>
              </a:rPr>
              <a:t>Photolithography</a:t>
            </a:r>
            <a:endParaRPr sz="1200" b="0" i="0" u="none" strike="noStrike" cap="none">
              <a:solidFill>
                <a:srgbClr val="000000"/>
              </a:solidFill>
              <a:latin typeface="Cambria"/>
              <a:ea typeface="Cambria"/>
              <a:cs typeface="Cambria"/>
              <a:sym typeface="Cambria"/>
            </a:endParaRPr>
          </a:p>
        </p:txBody>
      </p:sp>
      <p:pic>
        <p:nvPicPr>
          <p:cNvPr id="629" name="Google Shape;629;p24"/>
          <p:cNvPicPr preferRelativeResize="0"/>
          <p:nvPr/>
        </p:nvPicPr>
        <p:blipFill rotWithShape="1">
          <a:blip r:embed="rId4">
            <a:alphaModFix/>
          </a:blip>
          <a:srcRect/>
          <a:stretch/>
        </p:blipFill>
        <p:spPr>
          <a:xfrm>
            <a:off x="386242" y="1641900"/>
            <a:ext cx="1872326" cy="124334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CONFIDENTIAL</a:t>
            </a:r>
            <a:endParaRPr/>
          </a:p>
        </p:txBody>
      </p:sp>
      <p:sp>
        <p:nvSpPr>
          <p:cNvPr id="636" name="Google Shape;636;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
        <p:nvSpPr>
          <p:cNvPr id="637" name="Google Shape;637;p25"/>
          <p:cNvSpPr txBox="1">
            <a:spLocks noGrp="1"/>
          </p:cNvSpPr>
          <p:nvPr>
            <p:ph type="title"/>
          </p:nvPr>
        </p:nvSpPr>
        <p:spPr>
          <a:xfrm>
            <a:off x="250970" y="365125"/>
            <a:ext cx="4673367" cy="1094559"/>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000"/>
              <a:buFont typeface="Arial"/>
              <a:buNone/>
            </a:pPr>
            <a:r>
              <a:rPr lang="en-US" b="1">
                <a:latin typeface="Arial"/>
                <a:ea typeface="Arial"/>
                <a:cs typeface="Arial"/>
                <a:sym typeface="Arial"/>
              </a:rPr>
              <a:t>Photolithography</a:t>
            </a:r>
            <a:endParaRPr/>
          </a:p>
        </p:txBody>
      </p:sp>
      <p:sp>
        <p:nvSpPr>
          <p:cNvPr id="638" name="Google Shape;638;p25"/>
          <p:cNvSpPr txBox="1"/>
          <p:nvPr/>
        </p:nvSpPr>
        <p:spPr>
          <a:xfrm>
            <a:off x="577921" y="1101390"/>
            <a:ext cx="10352675" cy="5063104"/>
          </a:xfrm>
          <a:prstGeom prst="rect">
            <a:avLst/>
          </a:prstGeom>
          <a:noFill/>
          <a:ln>
            <a:noFill/>
          </a:ln>
        </p:spPr>
        <p:txBody>
          <a:bodyPr spcFirstLastPara="1" wrap="square" lIns="0" tIns="45700" rIns="0" bIns="45700" anchor="ctr" anchorCtr="0">
            <a:normAutofit/>
          </a:bodyPr>
          <a:lstStyle/>
          <a:p>
            <a:pPr marL="914400" marR="0" lvl="2" indent="-357188" algn="l" rtl="0">
              <a:lnSpc>
                <a:spcPct val="100000"/>
              </a:lnSpc>
              <a:spcBef>
                <a:spcPts val="0"/>
              </a:spcBef>
              <a:spcAft>
                <a:spcPts val="0"/>
              </a:spcAft>
              <a:buClr>
                <a:srgbClr val="3F3F3F"/>
              </a:buClr>
              <a:buSzPts val="3800"/>
              <a:buFont typeface="Noto Sans Symbols"/>
              <a:buChar char="▪"/>
            </a:pPr>
            <a:r>
              <a:rPr lang="en-US" sz="3800" b="0" i="0" u="none" strike="noStrike" cap="none">
                <a:solidFill>
                  <a:srgbClr val="3F3F3F"/>
                </a:solidFill>
                <a:latin typeface="Calibri"/>
                <a:ea typeface="Calibri"/>
                <a:cs typeface="Calibri"/>
                <a:sym typeface="Calibri"/>
              </a:rPr>
              <a:t>Reticles vs mask</a:t>
            </a:r>
            <a:endParaRPr sz="1400" b="0" i="0" u="none" strike="noStrike" cap="none">
              <a:solidFill>
                <a:srgbClr val="000000"/>
              </a:solidFill>
              <a:latin typeface="Arial"/>
              <a:ea typeface="Arial"/>
              <a:cs typeface="Arial"/>
              <a:sym typeface="Arial"/>
            </a:endParaRPr>
          </a:p>
          <a:p>
            <a:pPr marL="914400" marR="0" lvl="2" indent="-357188" algn="l" rtl="0">
              <a:lnSpc>
                <a:spcPct val="100000"/>
              </a:lnSpc>
              <a:spcBef>
                <a:spcPts val="600"/>
              </a:spcBef>
              <a:spcAft>
                <a:spcPts val="0"/>
              </a:spcAft>
              <a:buClr>
                <a:srgbClr val="3F3F3F"/>
              </a:buClr>
              <a:buSzPts val="3800"/>
              <a:buFont typeface="Noto Sans Symbols"/>
              <a:buChar char="▪"/>
            </a:pPr>
            <a:r>
              <a:rPr lang="en-US" sz="3800" b="0" i="0" u="none" strike="noStrike" cap="none">
                <a:solidFill>
                  <a:srgbClr val="3F3F3F"/>
                </a:solidFill>
                <a:latin typeface="Calibri"/>
                <a:ea typeface="Calibri"/>
                <a:cs typeface="Calibri"/>
                <a:sym typeface="Calibri"/>
              </a:rPr>
              <a:t>Light sources </a:t>
            </a:r>
            <a:endParaRPr sz="1400" b="0" i="0" u="none" strike="noStrike" cap="none">
              <a:solidFill>
                <a:srgbClr val="000000"/>
              </a:solidFill>
              <a:latin typeface="Arial"/>
              <a:ea typeface="Arial"/>
              <a:cs typeface="Arial"/>
              <a:sym typeface="Arial"/>
            </a:endParaRPr>
          </a:p>
          <a:p>
            <a:pPr marL="914400" marR="0" lvl="2" indent="-357188" algn="l" rtl="0">
              <a:lnSpc>
                <a:spcPct val="100000"/>
              </a:lnSpc>
              <a:spcBef>
                <a:spcPts val="600"/>
              </a:spcBef>
              <a:spcAft>
                <a:spcPts val="0"/>
              </a:spcAft>
              <a:buClr>
                <a:srgbClr val="3F3F3F"/>
              </a:buClr>
              <a:buSzPts val="3800"/>
              <a:buFont typeface="Noto Sans Symbols"/>
              <a:buChar char="▪"/>
            </a:pPr>
            <a:r>
              <a:rPr lang="en-US" sz="3800" b="0" i="0" u="none" strike="noStrike" cap="none">
                <a:solidFill>
                  <a:srgbClr val="3F3F3F"/>
                </a:solidFill>
                <a:latin typeface="Calibri"/>
                <a:ea typeface="Calibri"/>
                <a:cs typeface="Calibri"/>
                <a:sym typeface="Calibri"/>
              </a:rPr>
              <a:t>Photoresist </a:t>
            </a:r>
            <a:endParaRPr sz="1400" b="0" i="0" u="none" strike="noStrike" cap="none">
              <a:solidFill>
                <a:srgbClr val="000000"/>
              </a:solidFill>
              <a:latin typeface="Arial"/>
              <a:ea typeface="Arial"/>
              <a:cs typeface="Arial"/>
              <a:sym typeface="Arial"/>
            </a:endParaRPr>
          </a:p>
          <a:p>
            <a:pPr marL="914400" marR="0" lvl="2" indent="-357188" algn="l" rtl="0">
              <a:lnSpc>
                <a:spcPct val="100000"/>
              </a:lnSpc>
              <a:spcBef>
                <a:spcPts val="600"/>
              </a:spcBef>
              <a:spcAft>
                <a:spcPts val="0"/>
              </a:spcAft>
              <a:buClr>
                <a:srgbClr val="3F3F3F"/>
              </a:buClr>
              <a:buSzPts val="3800"/>
              <a:buFont typeface="Noto Sans Symbols"/>
              <a:buChar char="▪"/>
            </a:pPr>
            <a:r>
              <a:rPr lang="en-US" sz="3800" b="0" i="0" u="none" strike="noStrike" cap="none">
                <a:solidFill>
                  <a:srgbClr val="3F3F3F"/>
                </a:solidFill>
                <a:latin typeface="Calibri"/>
                <a:ea typeface="Calibri"/>
                <a:cs typeface="Calibri"/>
                <a:sym typeface="Calibri"/>
              </a:rPr>
              <a:t>Process flow </a:t>
            </a:r>
            <a:endParaRPr sz="3800" b="0" i="0" u="none" strike="noStrike" cap="none">
              <a:solidFill>
                <a:srgbClr val="3F3F3F"/>
              </a:solidFill>
              <a:latin typeface="Calibri"/>
              <a:ea typeface="Calibri"/>
              <a:cs typeface="Calibri"/>
              <a:sym typeface="Calibri"/>
            </a:endParaRPr>
          </a:p>
          <a:p>
            <a:pPr marL="914400" marR="0" lvl="2" indent="-357188" algn="l" rtl="0">
              <a:lnSpc>
                <a:spcPct val="100000"/>
              </a:lnSpc>
              <a:spcBef>
                <a:spcPts val="600"/>
              </a:spcBef>
              <a:spcAft>
                <a:spcPts val="0"/>
              </a:spcAft>
              <a:buClr>
                <a:srgbClr val="3F3F3F"/>
              </a:buClr>
              <a:buSzPts val="3800"/>
              <a:buFont typeface="Noto Sans Symbols"/>
              <a:buChar char="▪"/>
            </a:pPr>
            <a:r>
              <a:rPr lang="en-US" sz="3800" b="0" i="0" u="none" strike="noStrike" cap="none">
                <a:solidFill>
                  <a:srgbClr val="3F3F3F"/>
                </a:solidFill>
                <a:latin typeface="Calibri"/>
                <a:ea typeface="Calibri"/>
                <a:cs typeface="Calibri"/>
                <a:sym typeface="Calibri"/>
              </a:rPr>
              <a:t>Terminologies</a:t>
            </a:r>
            <a:endParaRPr sz="1400" b="0" i="0" u="none" strike="noStrike" cap="none">
              <a:solidFill>
                <a:srgbClr val="000000"/>
              </a:solidFill>
              <a:latin typeface="Arial"/>
              <a:ea typeface="Arial"/>
              <a:cs typeface="Arial"/>
              <a:sym typeface="Arial"/>
            </a:endParaRPr>
          </a:p>
          <a:p>
            <a:pPr marL="914400" marR="0" lvl="2" indent="-357188" algn="l" rtl="0">
              <a:lnSpc>
                <a:spcPct val="100000"/>
              </a:lnSpc>
              <a:spcBef>
                <a:spcPts val="600"/>
              </a:spcBef>
              <a:spcAft>
                <a:spcPts val="0"/>
              </a:spcAft>
              <a:buClr>
                <a:srgbClr val="3F3F3F"/>
              </a:buClr>
              <a:buSzPts val="3800"/>
              <a:buFont typeface="Noto Sans Symbols"/>
              <a:buChar char="▪"/>
            </a:pPr>
            <a:r>
              <a:rPr lang="en-US" sz="3800" b="0" i="0" u="none" strike="noStrike" cap="none">
                <a:solidFill>
                  <a:srgbClr val="3F3F3F"/>
                </a:solidFill>
                <a:latin typeface="Calibri"/>
                <a:ea typeface="Calibri"/>
                <a:cs typeface="Calibri"/>
                <a:sym typeface="Calibri"/>
              </a:rPr>
              <a:t>Critical dimension (CD), overlay and inspection</a:t>
            </a:r>
            <a:endParaRPr sz="3800" b="0" i="0" u="none" strike="noStrike" cap="none">
              <a:solidFill>
                <a:srgbClr val="3F3F3F"/>
              </a:solidFill>
              <a:latin typeface="Calibri"/>
              <a:ea typeface="Calibri"/>
              <a:cs typeface="Calibri"/>
              <a:sym typeface="Calibri"/>
            </a:endParaRPr>
          </a:p>
          <a:p>
            <a:pPr marL="91440" marR="0" lvl="0" indent="-43180" algn="ctr" rtl="0">
              <a:lnSpc>
                <a:spcPct val="80000"/>
              </a:lnSpc>
              <a:spcBef>
                <a:spcPts val="1600"/>
              </a:spcBef>
              <a:spcAft>
                <a:spcPts val="0"/>
              </a:spcAft>
              <a:buClr>
                <a:schemeClr val="accent1"/>
              </a:buClr>
              <a:buSzPts val="760"/>
              <a:buFont typeface="Calibri"/>
              <a:buNone/>
            </a:pPr>
            <a:endParaRPr sz="760" b="0" i="0" u="none" strike="noStrike" cap="none">
              <a:solidFill>
                <a:srgbClr val="3F3F3F"/>
              </a:solidFill>
              <a:latin typeface="Calibri"/>
              <a:ea typeface="Calibri"/>
              <a:cs typeface="Calibri"/>
              <a:sym typeface="Calibri"/>
            </a:endParaRPr>
          </a:p>
        </p:txBody>
      </p:sp>
      <p:pic>
        <p:nvPicPr>
          <p:cNvPr id="639" name="Google Shape;639;p25"/>
          <p:cNvPicPr preferRelativeResize="0"/>
          <p:nvPr/>
        </p:nvPicPr>
        <p:blipFill rotWithShape="1">
          <a:blip r:embed="rId3">
            <a:alphaModFix/>
          </a:blip>
          <a:srcRect t="13857"/>
          <a:stretch/>
        </p:blipFill>
        <p:spPr>
          <a:xfrm>
            <a:off x="8767313" y="1252267"/>
            <a:ext cx="2586487" cy="333877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CONFIDENTIAL</a:t>
            </a:r>
            <a:endParaRPr/>
          </a:p>
        </p:txBody>
      </p:sp>
      <p:sp>
        <p:nvSpPr>
          <p:cNvPr id="645" name="Google Shape;64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
        <p:nvSpPr>
          <p:cNvPr id="646" name="Google Shape;646;p26"/>
          <p:cNvSpPr txBox="1">
            <a:spLocks noGrp="1"/>
          </p:cNvSpPr>
          <p:nvPr>
            <p:ph type="title"/>
          </p:nvPr>
        </p:nvSpPr>
        <p:spPr>
          <a:xfrm>
            <a:off x="213975" y="27666"/>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rial"/>
              <a:buNone/>
            </a:pPr>
            <a:r>
              <a:rPr lang="en-US" b="1">
                <a:latin typeface="Arial"/>
                <a:ea typeface="Arial"/>
                <a:cs typeface="Arial"/>
                <a:sym typeface="Arial"/>
              </a:rPr>
              <a:t>Comparison be between Photography </a:t>
            </a:r>
            <a:br>
              <a:rPr lang="en-US" b="1">
                <a:latin typeface="Arial"/>
                <a:ea typeface="Arial"/>
                <a:cs typeface="Arial"/>
                <a:sym typeface="Arial"/>
              </a:rPr>
            </a:br>
            <a:r>
              <a:rPr lang="en-US" b="1">
                <a:latin typeface="Arial"/>
                <a:ea typeface="Arial"/>
                <a:cs typeface="Arial"/>
                <a:sym typeface="Arial"/>
              </a:rPr>
              <a:t>and Photolithography</a:t>
            </a:r>
            <a:endParaRPr/>
          </a:p>
        </p:txBody>
      </p:sp>
      <p:pic>
        <p:nvPicPr>
          <p:cNvPr id="647" name="Google Shape;647;p26" descr="Enlarger - Wikipedia"/>
          <p:cNvPicPr preferRelativeResize="0"/>
          <p:nvPr/>
        </p:nvPicPr>
        <p:blipFill rotWithShape="1">
          <a:blip r:embed="rId3">
            <a:alphaModFix/>
          </a:blip>
          <a:srcRect/>
          <a:stretch/>
        </p:blipFill>
        <p:spPr>
          <a:xfrm>
            <a:off x="-92878" y="1705691"/>
            <a:ext cx="4736201" cy="4049157"/>
          </a:xfrm>
          <a:prstGeom prst="rect">
            <a:avLst/>
          </a:prstGeom>
          <a:noFill/>
          <a:ln>
            <a:noFill/>
          </a:ln>
        </p:spPr>
      </p:pic>
      <p:grpSp>
        <p:nvGrpSpPr>
          <p:cNvPr id="648" name="Google Shape;648;p26"/>
          <p:cNvGrpSpPr/>
          <p:nvPr/>
        </p:nvGrpSpPr>
        <p:grpSpPr>
          <a:xfrm>
            <a:off x="4734041" y="1480645"/>
            <a:ext cx="7169937" cy="4366482"/>
            <a:chOff x="4741051" y="1503400"/>
            <a:chExt cx="6189545" cy="3617463"/>
          </a:xfrm>
        </p:grpSpPr>
        <p:pic>
          <p:nvPicPr>
            <p:cNvPr id="649" name="Google Shape;649;p26" descr="Photolithography process | Download Scientific Diagram"/>
            <p:cNvPicPr preferRelativeResize="0"/>
            <p:nvPr/>
          </p:nvPicPr>
          <p:blipFill rotWithShape="1">
            <a:blip r:embed="rId4">
              <a:alphaModFix/>
            </a:blip>
            <a:srcRect/>
            <a:stretch/>
          </p:blipFill>
          <p:spPr>
            <a:xfrm>
              <a:off x="4741051" y="1705691"/>
              <a:ext cx="6189545" cy="3415172"/>
            </a:xfrm>
            <a:prstGeom prst="rect">
              <a:avLst/>
            </a:prstGeom>
            <a:noFill/>
            <a:ln>
              <a:noFill/>
            </a:ln>
          </p:spPr>
        </p:pic>
        <p:sp>
          <p:nvSpPr>
            <p:cNvPr id="650" name="Google Shape;650;p26"/>
            <p:cNvSpPr/>
            <p:nvPr/>
          </p:nvSpPr>
          <p:spPr>
            <a:xfrm>
              <a:off x="4897677" y="1503400"/>
              <a:ext cx="1749444" cy="103053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CONFIDENTIAL</a:t>
            </a:r>
            <a:endParaRPr/>
          </a:p>
        </p:txBody>
      </p:sp>
      <p:sp>
        <p:nvSpPr>
          <p:cNvPr id="656" name="Google Shape;656;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
        <p:nvSpPr>
          <p:cNvPr id="657" name="Google Shape;657;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b="1"/>
              <a:t>Reticle  vs  Photomask</a:t>
            </a:r>
            <a:endParaRPr b="1"/>
          </a:p>
        </p:txBody>
      </p:sp>
      <p:pic>
        <p:nvPicPr>
          <p:cNvPr id="658" name="Google Shape;658;p27"/>
          <p:cNvPicPr preferRelativeResize="0"/>
          <p:nvPr/>
        </p:nvPicPr>
        <p:blipFill rotWithShape="1">
          <a:blip r:embed="rId3">
            <a:alphaModFix/>
          </a:blip>
          <a:srcRect/>
          <a:stretch/>
        </p:blipFill>
        <p:spPr>
          <a:xfrm>
            <a:off x="565029" y="1551208"/>
            <a:ext cx="3270885" cy="3078480"/>
          </a:xfrm>
          <a:prstGeom prst="rect">
            <a:avLst/>
          </a:prstGeom>
          <a:noFill/>
          <a:ln>
            <a:noFill/>
          </a:ln>
        </p:spPr>
      </p:pic>
      <p:pic>
        <p:nvPicPr>
          <p:cNvPr id="659" name="Google Shape;659;p27" descr="http://ultra.pr.erau.edu/~jaffem/classes/cs470/Mask1.jpg"/>
          <p:cNvPicPr preferRelativeResize="0"/>
          <p:nvPr/>
        </p:nvPicPr>
        <p:blipFill rotWithShape="1">
          <a:blip r:embed="rId4">
            <a:alphaModFix/>
          </a:blip>
          <a:srcRect/>
          <a:stretch/>
        </p:blipFill>
        <p:spPr>
          <a:xfrm>
            <a:off x="5953387" y="1740760"/>
            <a:ext cx="3270884" cy="3235840"/>
          </a:xfrm>
          <a:prstGeom prst="rect">
            <a:avLst/>
          </a:prstGeom>
          <a:noFill/>
          <a:ln>
            <a:noFill/>
          </a:ln>
        </p:spPr>
      </p:pic>
      <p:sp>
        <p:nvSpPr>
          <p:cNvPr id="660" name="Google Shape;660;p27"/>
          <p:cNvSpPr/>
          <p:nvPr/>
        </p:nvSpPr>
        <p:spPr>
          <a:xfrm>
            <a:off x="9080847" y="2152298"/>
            <a:ext cx="2260087" cy="1876301"/>
          </a:xfrm>
          <a:prstGeom prst="leftArrowCallout">
            <a:avLst>
              <a:gd name="adj1" fmla="val 25000"/>
              <a:gd name="adj2" fmla="val 25000"/>
              <a:gd name="adj3" fmla="val 25000"/>
              <a:gd name="adj4" fmla="val 64977"/>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Typically used in 1x Contact Aligners</a:t>
            </a:r>
            <a:endParaRPr sz="1400" b="0" i="0" u="none" strike="noStrike" cap="none">
              <a:solidFill>
                <a:srgbClr val="000000"/>
              </a:solidFill>
              <a:latin typeface="Arial"/>
              <a:ea typeface="Arial"/>
              <a:cs typeface="Arial"/>
              <a:sym typeface="Arial"/>
            </a:endParaRPr>
          </a:p>
        </p:txBody>
      </p:sp>
      <p:sp>
        <p:nvSpPr>
          <p:cNvPr id="661" name="Google Shape;661;p27"/>
          <p:cNvSpPr/>
          <p:nvPr/>
        </p:nvSpPr>
        <p:spPr>
          <a:xfrm>
            <a:off x="767715" y="4406057"/>
            <a:ext cx="3270885" cy="1133110"/>
          </a:xfrm>
          <a:prstGeom prst="upArrowCallout">
            <a:avLst>
              <a:gd name="adj1" fmla="val 25000"/>
              <a:gd name="adj2" fmla="val 25000"/>
              <a:gd name="adj3" fmla="val 25000"/>
              <a:gd name="adj4" fmla="val 64977"/>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These are used on Steppers or Scanners (5x or 4x)</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CONFIDENTIAL</a:t>
            </a:r>
            <a:endParaRPr/>
          </a:p>
        </p:txBody>
      </p:sp>
      <p:sp>
        <p:nvSpPr>
          <p:cNvPr id="667" name="Google Shape;66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668" name="Google Shape;668;p28"/>
          <p:cNvSpPr txBox="1">
            <a:spLocks noGrp="1"/>
          </p:cNvSpPr>
          <p:nvPr>
            <p:ph type="title"/>
          </p:nvPr>
        </p:nvSpPr>
        <p:spPr>
          <a:xfrm>
            <a:off x="838200" y="365126"/>
            <a:ext cx="3200400" cy="10860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000"/>
              <a:buFont typeface="Arial"/>
              <a:buNone/>
            </a:pPr>
            <a:r>
              <a:rPr lang="en-US" b="1">
                <a:latin typeface="Arial"/>
                <a:ea typeface="Arial"/>
                <a:cs typeface="Arial"/>
                <a:sym typeface="Arial"/>
              </a:rPr>
              <a:t>Field vs Die</a:t>
            </a:r>
            <a:endParaRPr/>
          </a:p>
        </p:txBody>
      </p:sp>
      <p:sp>
        <p:nvSpPr>
          <p:cNvPr id="669" name="Google Shape;669;p28"/>
          <p:cNvSpPr txBox="1"/>
          <p:nvPr/>
        </p:nvSpPr>
        <p:spPr>
          <a:xfrm>
            <a:off x="867619" y="1579178"/>
            <a:ext cx="10371551"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A key concept to introduce at this juncture: Exposure Field vs a Die</a:t>
            </a:r>
            <a:endParaRPr sz="1400" b="0" i="0" u="none" strike="noStrike" cap="none">
              <a:solidFill>
                <a:srgbClr val="000000"/>
              </a:solidFill>
              <a:latin typeface="Arial"/>
              <a:ea typeface="Arial"/>
              <a:cs typeface="Arial"/>
              <a:sym typeface="Arial"/>
            </a:endParaRPr>
          </a:p>
        </p:txBody>
      </p:sp>
      <p:pic>
        <p:nvPicPr>
          <p:cNvPr id="670" name="Google Shape;670;p28"/>
          <p:cNvPicPr preferRelativeResize="0"/>
          <p:nvPr/>
        </p:nvPicPr>
        <p:blipFill rotWithShape="1">
          <a:blip r:embed="rId3">
            <a:alphaModFix/>
          </a:blip>
          <a:srcRect l="4229" b="2410"/>
          <a:stretch/>
        </p:blipFill>
        <p:spPr>
          <a:xfrm>
            <a:off x="507131" y="2168799"/>
            <a:ext cx="3170677" cy="3040808"/>
          </a:xfrm>
          <a:prstGeom prst="rect">
            <a:avLst/>
          </a:prstGeom>
          <a:noFill/>
          <a:ln>
            <a:noFill/>
          </a:ln>
        </p:spPr>
      </p:pic>
      <p:sp>
        <p:nvSpPr>
          <p:cNvPr id="671" name="Google Shape;671;p28"/>
          <p:cNvSpPr txBox="1"/>
          <p:nvPr/>
        </p:nvSpPr>
        <p:spPr>
          <a:xfrm>
            <a:off x="4908938" y="2382473"/>
            <a:ext cx="6087650" cy="19389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accent1"/>
                </a:solidFill>
                <a:latin typeface="Arial"/>
                <a:ea typeface="Arial"/>
                <a:cs typeface="Arial"/>
                <a:sym typeface="Arial"/>
              </a:rPr>
              <a:t>Based upon this reticle: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accent1"/>
              </a:buClr>
              <a:buSzPts val="2400"/>
              <a:buFont typeface="Arial"/>
              <a:buChar char="•"/>
            </a:pPr>
            <a:r>
              <a:rPr lang="en-US" sz="2400" b="0" i="0" u="none" strike="noStrike" cap="none">
                <a:solidFill>
                  <a:schemeClr val="accent1"/>
                </a:solidFill>
                <a:latin typeface="Arial"/>
                <a:ea typeface="Arial"/>
                <a:cs typeface="Arial"/>
                <a:sym typeface="Arial"/>
              </a:rPr>
              <a:t>This has an exposure field of 4 x 5 (dies)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accent1"/>
              </a:buClr>
              <a:buSzPts val="2400"/>
              <a:buFont typeface="Arial"/>
              <a:buChar char="•"/>
            </a:pPr>
            <a:r>
              <a:rPr lang="en-US" sz="2400" b="0" i="0" u="none" strike="noStrike" cap="none">
                <a:solidFill>
                  <a:schemeClr val="accent1"/>
                </a:solidFill>
                <a:latin typeface="Arial"/>
                <a:ea typeface="Arial"/>
                <a:cs typeface="Arial"/>
                <a:sym typeface="Arial"/>
              </a:rPr>
              <a:t>Each of the individual squares within is a complete DIE or upon dicing an IC chip.</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accent1"/>
              </a:buClr>
              <a:buSzPts val="2400"/>
              <a:buFont typeface="Arial"/>
              <a:buChar char="•"/>
            </a:pPr>
            <a:r>
              <a:rPr lang="en-US" sz="2400" b="0" i="0" u="none" strike="noStrike" cap="none">
                <a:solidFill>
                  <a:schemeClr val="accent1"/>
                </a:solidFill>
                <a:latin typeface="Arial"/>
                <a:ea typeface="Arial"/>
                <a:cs typeface="Arial"/>
                <a:sym typeface="Arial"/>
              </a:rPr>
              <a:t>Singular is called a DIE, multiple DICE.</a:t>
            </a:r>
            <a:endParaRPr sz="1400" b="0" i="0" u="none" strike="noStrike" cap="none">
              <a:solidFill>
                <a:srgbClr val="000000"/>
              </a:solidFill>
              <a:latin typeface="Arial"/>
              <a:ea typeface="Arial"/>
              <a:cs typeface="Arial"/>
              <a:sym typeface="Arial"/>
            </a:endParaRPr>
          </a:p>
        </p:txBody>
      </p:sp>
      <p:sp>
        <p:nvSpPr>
          <p:cNvPr id="672" name="Google Shape;672;p28"/>
          <p:cNvSpPr/>
          <p:nvPr/>
        </p:nvSpPr>
        <p:spPr>
          <a:xfrm>
            <a:off x="4122900" y="4817158"/>
            <a:ext cx="2379945" cy="776614"/>
          </a:xfrm>
          <a:prstGeom prst="wedgeRoundRectCallout">
            <a:avLst>
              <a:gd name="adj1" fmla="val -121542"/>
              <a:gd name="adj2" fmla="val -92339"/>
              <a:gd name="adj3"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Each of these are referred to as a DIE</a:t>
            </a:r>
            <a:endParaRPr sz="1400" b="0" i="0" u="none" strike="noStrike" cap="none">
              <a:solidFill>
                <a:srgbClr val="000000"/>
              </a:solidFill>
              <a:latin typeface="Arial"/>
              <a:ea typeface="Arial"/>
              <a:cs typeface="Arial"/>
              <a:sym typeface="Arial"/>
            </a:endParaRPr>
          </a:p>
        </p:txBody>
      </p:sp>
      <p:sp>
        <p:nvSpPr>
          <p:cNvPr id="673" name="Google Shape;673;p28"/>
          <p:cNvSpPr txBox="1"/>
          <p:nvPr/>
        </p:nvSpPr>
        <p:spPr>
          <a:xfrm>
            <a:off x="7335520" y="4714240"/>
            <a:ext cx="3903650" cy="1477328"/>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Other features observed on the reticle are unique bar codes that identify the reticle, as well as ‘fudicle’ marks used for the alignment of the reticle to the wafer on the exposure tool.</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CONFIDENTIAL</a:t>
            </a:r>
            <a:endParaRPr/>
          </a:p>
        </p:txBody>
      </p:sp>
      <p:sp>
        <p:nvSpPr>
          <p:cNvPr id="679" name="Google Shape;679;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
        <p:nvSpPr>
          <p:cNvPr id="680" name="Google Shape;680;p29"/>
          <p:cNvSpPr txBox="1">
            <a:spLocks noGrp="1"/>
          </p:cNvSpPr>
          <p:nvPr>
            <p:ph type="title"/>
          </p:nvPr>
        </p:nvSpPr>
        <p:spPr>
          <a:xfrm>
            <a:off x="299761" y="140750"/>
            <a:ext cx="7907700" cy="11199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548135"/>
              </a:buClr>
              <a:buSzPts val="5120"/>
              <a:buFont typeface="Georgia"/>
              <a:buNone/>
            </a:pPr>
            <a:r>
              <a:rPr lang="en-US" sz="4000" b="1" i="0" u="none" strike="noStrike" cap="none">
                <a:solidFill>
                  <a:schemeClr val="dk1"/>
                </a:solidFill>
                <a:latin typeface="Cambria"/>
                <a:ea typeface="Cambria"/>
                <a:cs typeface="Cambria"/>
                <a:sym typeface="Cambria"/>
              </a:rPr>
              <a:t>Evolution of Exposure Systems</a:t>
            </a:r>
            <a:endParaRPr sz="4000" b="1" i="0" u="none" strike="noStrike" cap="none">
              <a:solidFill>
                <a:schemeClr val="dk1"/>
              </a:solidFill>
              <a:latin typeface="Cambria"/>
              <a:ea typeface="Cambria"/>
              <a:cs typeface="Cambria"/>
              <a:sym typeface="Cambria"/>
            </a:endParaRPr>
          </a:p>
        </p:txBody>
      </p:sp>
      <p:grpSp>
        <p:nvGrpSpPr>
          <p:cNvPr id="681" name="Google Shape;681;p29"/>
          <p:cNvGrpSpPr/>
          <p:nvPr/>
        </p:nvGrpSpPr>
        <p:grpSpPr>
          <a:xfrm>
            <a:off x="9509943" y="1501413"/>
            <a:ext cx="1698626" cy="2278380"/>
            <a:chOff x="3604893" y="3680460"/>
            <a:chExt cx="1698626" cy="2278380"/>
          </a:xfrm>
        </p:grpSpPr>
        <p:sp>
          <p:nvSpPr>
            <p:cNvPr id="682" name="Google Shape;682;p29"/>
            <p:cNvSpPr/>
            <p:nvPr/>
          </p:nvSpPr>
          <p:spPr>
            <a:xfrm>
              <a:off x="3711575" y="5455920"/>
              <a:ext cx="1493520" cy="502920"/>
            </a:xfrm>
            <a:prstGeom prst="rect">
              <a:avLst/>
            </a:prstGeom>
            <a:solidFill>
              <a:srgbClr val="BFBFBF"/>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29"/>
            <p:cNvSpPr/>
            <p:nvPr/>
          </p:nvSpPr>
          <p:spPr>
            <a:xfrm>
              <a:off x="3711575" y="5303520"/>
              <a:ext cx="1493520" cy="152400"/>
            </a:xfrm>
            <a:prstGeom prst="rect">
              <a:avLst/>
            </a:prstGeom>
            <a:solidFill>
              <a:srgbClr val="BBD6E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684" name="Google Shape;684;p29"/>
            <p:cNvGrpSpPr/>
            <p:nvPr/>
          </p:nvGrpSpPr>
          <p:grpSpPr>
            <a:xfrm>
              <a:off x="3658235" y="4203382"/>
              <a:ext cx="1493520" cy="91440"/>
              <a:chOff x="1470660" y="2263140"/>
              <a:chExt cx="1493520" cy="91440"/>
            </a:xfrm>
          </p:grpSpPr>
          <p:cxnSp>
            <p:nvCxnSpPr>
              <p:cNvPr id="685" name="Google Shape;685;p29"/>
              <p:cNvCxnSpPr/>
              <p:nvPr/>
            </p:nvCxnSpPr>
            <p:spPr>
              <a:xfrm rot="10800000" flipH="1">
                <a:off x="1470660" y="2270760"/>
                <a:ext cx="1493520" cy="7620"/>
              </a:xfrm>
              <a:prstGeom prst="straightConnector1">
                <a:avLst/>
              </a:prstGeom>
              <a:noFill/>
              <a:ln w="9525" cap="flat" cmpd="sng">
                <a:solidFill>
                  <a:schemeClr val="accent1"/>
                </a:solidFill>
                <a:prstDash val="solid"/>
                <a:miter lim="800000"/>
                <a:headEnd type="none" w="sm" len="sm"/>
                <a:tailEnd type="none" w="sm" len="sm"/>
              </a:ln>
            </p:spPr>
          </p:cxnSp>
          <p:sp>
            <p:nvSpPr>
              <p:cNvPr id="686" name="Google Shape;686;p29"/>
              <p:cNvSpPr/>
              <p:nvPr/>
            </p:nvSpPr>
            <p:spPr>
              <a:xfrm>
                <a:off x="1470660" y="2278380"/>
                <a:ext cx="243840" cy="76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29"/>
              <p:cNvSpPr/>
              <p:nvPr/>
            </p:nvSpPr>
            <p:spPr>
              <a:xfrm>
                <a:off x="1920240" y="2278380"/>
                <a:ext cx="243840" cy="76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29"/>
              <p:cNvSpPr/>
              <p:nvPr/>
            </p:nvSpPr>
            <p:spPr>
              <a:xfrm>
                <a:off x="2720340" y="2263140"/>
                <a:ext cx="243840" cy="76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29"/>
              <p:cNvSpPr/>
              <p:nvPr/>
            </p:nvSpPr>
            <p:spPr>
              <a:xfrm>
                <a:off x="2339340" y="2278380"/>
                <a:ext cx="243840" cy="76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90" name="Google Shape;690;p29"/>
            <p:cNvSpPr/>
            <p:nvPr/>
          </p:nvSpPr>
          <p:spPr>
            <a:xfrm>
              <a:off x="3604895" y="4861560"/>
              <a:ext cx="1675765" cy="152400"/>
            </a:xfrm>
            <a:prstGeom prst="ellipse">
              <a:avLst/>
            </a:prstGeom>
            <a:solidFill>
              <a:srgbClr val="FFFF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29"/>
            <p:cNvSpPr/>
            <p:nvPr/>
          </p:nvSpPr>
          <p:spPr>
            <a:xfrm>
              <a:off x="3604894" y="4465320"/>
              <a:ext cx="1675765" cy="152400"/>
            </a:xfrm>
            <a:prstGeom prst="ellipse">
              <a:avLst/>
            </a:prstGeom>
            <a:solidFill>
              <a:srgbClr val="FFFF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2" name="Google Shape;692;p29"/>
            <p:cNvSpPr/>
            <p:nvPr/>
          </p:nvSpPr>
          <p:spPr>
            <a:xfrm>
              <a:off x="3627754" y="4655820"/>
              <a:ext cx="1675765" cy="152400"/>
            </a:xfrm>
            <a:prstGeom prst="ellipse">
              <a:avLst/>
            </a:prstGeom>
            <a:solidFill>
              <a:srgbClr val="FFFF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3" name="Google Shape;693;p29"/>
            <p:cNvSpPr/>
            <p:nvPr/>
          </p:nvSpPr>
          <p:spPr>
            <a:xfrm>
              <a:off x="3604893" y="3680460"/>
              <a:ext cx="1675765" cy="152400"/>
            </a:xfrm>
            <a:prstGeom prst="ellipse">
              <a:avLst/>
            </a:prstGeom>
            <a:solidFill>
              <a:srgbClr val="FFFF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694" name="Google Shape;694;p29"/>
          <p:cNvGrpSpPr/>
          <p:nvPr/>
        </p:nvGrpSpPr>
        <p:grpSpPr>
          <a:xfrm>
            <a:off x="3404299" y="3597496"/>
            <a:ext cx="1698626" cy="2278380"/>
            <a:chOff x="1744980" y="4065270"/>
            <a:chExt cx="1698626" cy="2278380"/>
          </a:xfrm>
        </p:grpSpPr>
        <p:grpSp>
          <p:nvGrpSpPr>
            <p:cNvPr id="695" name="Google Shape;695;p29"/>
            <p:cNvGrpSpPr/>
            <p:nvPr/>
          </p:nvGrpSpPr>
          <p:grpSpPr>
            <a:xfrm>
              <a:off x="1744980" y="4065270"/>
              <a:ext cx="1698626" cy="2278380"/>
              <a:chOff x="3604893" y="3680460"/>
              <a:chExt cx="1698626" cy="2278380"/>
            </a:xfrm>
          </p:grpSpPr>
          <p:sp>
            <p:nvSpPr>
              <p:cNvPr id="696" name="Google Shape;696;p29"/>
              <p:cNvSpPr/>
              <p:nvPr/>
            </p:nvSpPr>
            <p:spPr>
              <a:xfrm>
                <a:off x="3711575" y="5455920"/>
                <a:ext cx="1493520" cy="502920"/>
              </a:xfrm>
              <a:prstGeom prst="rect">
                <a:avLst/>
              </a:prstGeom>
              <a:solidFill>
                <a:srgbClr val="BFBFBF"/>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7" name="Google Shape;697;p29"/>
              <p:cNvSpPr/>
              <p:nvPr/>
            </p:nvSpPr>
            <p:spPr>
              <a:xfrm>
                <a:off x="3711575" y="5303520"/>
                <a:ext cx="1493520" cy="152400"/>
              </a:xfrm>
              <a:prstGeom prst="rect">
                <a:avLst/>
              </a:prstGeom>
              <a:solidFill>
                <a:srgbClr val="BBD6E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698" name="Google Shape;698;p29"/>
              <p:cNvGrpSpPr/>
              <p:nvPr/>
            </p:nvGrpSpPr>
            <p:grpSpPr>
              <a:xfrm>
                <a:off x="3658235" y="4203382"/>
                <a:ext cx="1493520" cy="91440"/>
                <a:chOff x="1470660" y="2263140"/>
                <a:chExt cx="1493520" cy="91440"/>
              </a:xfrm>
            </p:grpSpPr>
            <p:cxnSp>
              <p:nvCxnSpPr>
                <p:cNvPr id="699" name="Google Shape;699;p29"/>
                <p:cNvCxnSpPr/>
                <p:nvPr/>
              </p:nvCxnSpPr>
              <p:spPr>
                <a:xfrm rot="10800000" flipH="1">
                  <a:off x="1470660" y="2270760"/>
                  <a:ext cx="1493520" cy="7620"/>
                </a:xfrm>
                <a:prstGeom prst="straightConnector1">
                  <a:avLst/>
                </a:prstGeom>
                <a:noFill/>
                <a:ln w="9525" cap="flat" cmpd="sng">
                  <a:solidFill>
                    <a:schemeClr val="accent1"/>
                  </a:solidFill>
                  <a:prstDash val="solid"/>
                  <a:miter lim="800000"/>
                  <a:headEnd type="none" w="sm" len="sm"/>
                  <a:tailEnd type="none" w="sm" len="sm"/>
                </a:ln>
              </p:spPr>
            </p:cxnSp>
            <p:sp>
              <p:nvSpPr>
                <p:cNvPr id="700" name="Google Shape;700;p29"/>
                <p:cNvSpPr/>
                <p:nvPr/>
              </p:nvSpPr>
              <p:spPr>
                <a:xfrm>
                  <a:off x="1470660" y="2278380"/>
                  <a:ext cx="243840" cy="76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1" name="Google Shape;701;p29"/>
                <p:cNvSpPr/>
                <p:nvPr/>
              </p:nvSpPr>
              <p:spPr>
                <a:xfrm>
                  <a:off x="1920240" y="2278380"/>
                  <a:ext cx="243840" cy="76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2" name="Google Shape;702;p29"/>
                <p:cNvSpPr/>
                <p:nvPr/>
              </p:nvSpPr>
              <p:spPr>
                <a:xfrm>
                  <a:off x="2720340" y="2263140"/>
                  <a:ext cx="243840" cy="76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3" name="Google Shape;703;p29"/>
                <p:cNvSpPr/>
                <p:nvPr/>
              </p:nvSpPr>
              <p:spPr>
                <a:xfrm>
                  <a:off x="2339340" y="2278380"/>
                  <a:ext cx="243840" cy="76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04" name="Google Shape;704;p29"/>
              <p:cNvSpPr/>
              <p:nvPr/>
            </p:nvSpPr>
            <p:spPr>
              <a:xfrm>
                <a:off x="3604895" y="4861560"/>
                <a:ext cx="1675765" cy="152400"/>
              </a:xfrm>
              <a:prstGeom prst="ellipse">
                <a:avLst/>
              </a:prstGeom>
              <a:solidFill>
                <a:srgbClr val="FFFF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5" name="Google Shape;705;p29"/>
              <p:cNvSpPr/>
              <p:nvPr/>
            </p:nvSpPr>
            <p:spPr>
              <a:xfrm>
                <a:off x="3604894" y="4465320"/>
                <a:ext cx="1675765" cy="152400"/>
              </a:xfrm>
              <a:prstGeom prst="ellipse">
                <a:avLst/>
              </a:prstGeom>
              <a:solidFill>
                <a:srgbClr val="FFFF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6" name="Google Shape;706;p29"/>
              <p:cNvSpPr/>
              <p:nvPr/>
            </p:nvSpPr>
            <p:spPr>
              <a:xfrm>
                <a:off x="3627754" y="4655820"/>
                <a:ext cx="1675765" cy="152400"/>
              </a:xfrm>
              <a:prstGeom prst="ellipse">
                <a:avLst/>
              </a:prstGeom>
              <a:solidFill>
                <a:srgbClr val="FFFF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7" name="Google Shape;707;p29"/>
              <p:cNvSpPr/>
              <p:nvPr/>
            </p:nvSpPr>
            <p:spPr>
              <a:xfrm>
                <a:off x="3604893" y="3680460"/>
                <a:ext cx="1675765" cy="152400"/>
              </a:xfrm>
              <a:prstGeom prst="ellipse">
                <a:avLst/>
              </a:prstGeom>
              <a:solidFill>
                <a:srgbClr val="FFFF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08" name="Google Shape;708;p29"/>
            <p:cNvSpPr/>
            <p:nvPr/>
          </p:nvSpPr>
          <p:spPr>
            <a:xfrm>
              <a:off x="1851662" y="5615940"/>
              <a:ext cx="1493520" cy="72390"/>
            </a:xfrm>
            <a:prstGeom prst="rect">
              <a:avLst/>
            </a:prstGeom>
            <a:solidFill>
              <a:srgbClr val="00FFFF"/>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709" name="Google Shape;709;p29"/>
          <p:cNvGrpSpPr/>
          <p:nvPr/>
        </p:nvGrpSpPr>
        <p:grpSpPr>
          <a:xfrm>
            <a:off x="456719" y="2013373"/>
            <a:ext cx="2173507" cy="1214373"/>
            <a:chOff x="776758" y="2172154"/>
            <a:chExt cx="2173507" cy="1214373"/>
          </a:xfrm>
        </p:grpSpPr>
        <p:sp>
          <p:nvSpPr>
            <p:cNvPr id="710" name="Google Shape;710;p29"/>
            <p:cNvSpPr txBox="1"/>
            <p:nvPr/>
          </p:nvSpPr>
          <p:spPr>
            <a:xfrm>
              <a:off x="776758" y="2986417"/>
              <a:ext cx="2173507"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Contact printing</a:t>
              </a:r>
              <a:endParaRPr sz="2000" b="0" i="0" u="none" strike="noStrike" cap="none">
                <a:solidFill>
                  <a:schemeClr val="dk1"/>
                </a:solidFill>
                <a:latin typeface="Arial"/>
                <a:ea typeface="Arial"/>
                <a:cs typeface="Arial"/>
                <a:sym typeface="Arial"/>
              </a:endParaRPr>
            </a:p>
          </p:txBody>
        </p:sp>
        <p:grpSp>
          <p:nvGrpSpPr>
            <p:cNvPr id="711" name="Google Shape;711;p29"/>
            <p:cNvGrpSpPr/>
            <p:nvPr/>
          </p:nvGrpSpPr>
          <p:grpSpPr>
            <a:xfrm>
              <a:off x="967424" y="2172154"/>
              <a:ext cx="1501458" cy="745470"/>
              <a:chOff x="967424" y="2172154"/>
              <a:chExt cx="1501458" cy="745470"/>
            </a:xfrm>
          </p:grpSpPr>
          <p:sp>
            <p:nvSpPr>
              <p:cNvPr id="712" name="Google Shape;712;p29"/>
              <p:cNvSpPr/>
              <p:nvPr/>
            </p:nvSpPr>
            <p:spPr>
              <a:xfrm>
                <a:off x="967424" y="2414704"/>
                <a:ext cx="1493520" cy="502920"/>
              </a:xfrm>
              <a:prstGeom prst="rect">
                <a:avLst/>
              </a:prstGeom>
              <a:solidFill>
                <a:srgbClr val="BFBFBF"/>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3" name="Google Shape;713;p29"/>
              <p:cNvSpPr/>
              <p:nvPr/>
            </p:nvSpPr>
            <p:spPr>
              <a:xfrm>
                <a:off x="967424" y="2262304"/>
                <a:ext cx="1493520" cy="152400"/>
              </a:xfrm>
              <a:prstGeom prst="rect">
                <a:avLst/>
              </a:prstGeom>
              <a:solidFill>
                <a:srgbClr val="BBD6E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714" name="Google Shape;714;p29"/>
              <p:cNvGrpSpPr/>
              <p:nvPr/>
            </p:nvGrpSpPr>
            <p:grpSpPr>
              <a:xfrm>
                <a:off x="975362" y="2172154"/>
                <a:ext cx="1493520" cy="82381"/>
                <a:chOff x="3758247" y="1957407"/>
                <a:chExt cx="1493520" cy="82381"/>
              </a:xfrm>
            </p:grpSpPr>
            <p:cxnSp>
              <p:nvCxnSpPr>
                <p:cNvPr id="715" name="Google Shape;715;p29"/>
                <p:cNvCxnSpPr/>
                <p:nvPr/>
              </p:nvCxnSpPr>
              <p:spPr>
                <a:xfrm>
                  <a:off x="3758247" y="1957407"/>
                  <a:ext cx="1493520" cy="0"/>
                </a:xfrm>
                <a:prstGeom prst="straightConnector1">
                  <a:avLst/>
                </a:prstGeom>
                <a:noFill/>
                <a:ln w="9525" cap="flat" cmpd="sng">
                  <a:solidFill>
                    <a:schemeClr val="accent1"/>
                  </a:solidFill>
                  <a:prstDash val="solid"/>
                  <a:miter lim="800000"/>
                  <a:headEnd type="none" w="sm" len="sm"/>
                  <a:tailEnd type="none" w="sm" len="sm"/>
                </a:ln>
              </p:spPr>
            </p:cxnSp>
            <p:sp>
              <p:nvSpPr>
                <p:cNvPr id="716" name="Google Shape;716;p29"/>
                <p:cNvSpPr/>
                <p:nvPr/>
              </p:nvSpPr>
              <p:spPr>
                <a:xfrm>
                  <a:off x="3758247" y="1957407"/>
                  <a:ext cx="243840" cy="76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29"/>
                <p:cNvSpPr/>
                <p:nvPr/>
              </p:nvSpPr>
              <p:spPr>
                <a:xfrm>
                  <a:off x="4207827" y="1957407"/>
                  <a:ext cx="243840" cy="76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29"/>
                <p:cNvSpPr/>
                <p:nvPr/>
              </p:nvSpPr>
              <p:spPr>
                <a:xfrm>
                  <a:off x="4985911" y="1958618"/>
                  <a:ext cx="243840" cy="76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9" name="Google Shape;719;p29"/>
                <p:cNvSpPr/>
                <p:nvPr/>
              </p:nvSpPr>
              <p:spPr>
                <a:xfrm>
                  <a:off x="4626927" y="1963588"/>
                  <a:ext cx="243840" cy="76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grpSp>
      <p:grpSp>
        <p:nvGrpSpPr>
          <p:cNvPr id="720" name="Google Shape;720;p29"/>
          <p:cNvGrpSpPr/>
          <p:nvPr/>
        </p:nvGrpSpPr>
        <p:grpSpPr>
          <a:xfrm>
            <a:off x="2946153" y="1972788"/>
            <a:ext cx="2326214" cy="1259649"/>
            <a:chOff x="3486951" y="2090984"/>
            <a:chExt cx="2326214" cy="1259649"/>
          </a:xfrm>
        </p:grpSpPr>
        <p:grpSp>
          <p:nvGrpSpPr>
            <p:cNvPr id="721" name="Google Shape;721;p29"/>
            <p:cNvGrpSpPr/>
            <p:nvPr/>
          </p:nvGrpSpPr>
          <p:grpSpPr>
            <a:xfrm>
              <a:off x="3758247" y="2090984"/>
              <a:ext cx="1505615" cy="833980"/>
              <a:chOff x="3758247" y="2090984"/>
              <a:chExt cx="1505615" cy="833980"/>
            </a:xfrm>
          </p:grpSpPr>
          <p:sp>
            <p:nvSpPr>
              <p:cNvPr id="722" name="Google Shape;722;p29"/>
              <p:cNvSpPr/>
              <p:nvPr/>
            </p:nvSpPr>
            <p:spPr>
              <a:xfrm>
                <a:off x="3758247" y="2422044"/>
                <a:ext cx="1493520" cy="502920"/>
              </a:xfrm>
              <a:prstGeom prst="rect">
                <a:avLst/>
              </a:prstGeom>
              <a:solidFill>
                <a:srgbClr val="BFBFBF"/>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3" name="Google Shape;723;p29"/>
              <p:cNvSpPr/>
              <p:nvPr/>
            </p:nvSpPr>
            <p:spPr>
              <a:xfrm>
                <a:off x="3758247" y="2269644"/>
                <a:ext cx="1493520" cy="152400"/>
              </a:xfrm>
              <a:prstGeom prst="rect">
                <a:avLst/>
              </a:prstGeom>
              <a:solidFill>
                <a:srgbClr val="BBD6E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724" name="Google Shape;724;p29"/>
              <p:cNvGrpSpPr/>
              <p:nvPr/>
            </p:nvGrpSpPr>
            <p:grpSpPr>
              <a:xfrm>
                <a:off x="3770342" y="2090984"/>
                <a:ext cx="1493520" cy="82381"/>
                <a:chOff x="3758247" y="1957407"/>
                <a:chExt cx="1493520" cy="82381"/>
              </a:xfrm>
            </p:grpSpPr>
            <p:cxnSp>
              <p:nvCxnSpPr>
                <p:cNvPr id="725" name="Google Shape;725;p29"/>
                <p:cNvCxnSpPr/>
                <p:nvPr/>
              </p:nvCxnSpPr>
              <p:spPr>
                <a:xfrm>
                  <a:off x="3758247" y="1957407"/>
                  <a:ext cx="1493520" cy="0"/>
                </a:xfrm>
                <a:prstGeom prst="straightConnector1">
                  <a:avLst/>
                </a:prstGeom>
                <a:noFill/>
                <a:ln w="9525" cap="flat" cmpd="sng">
                  <a:solidFill>
                    <a:schemeClr val="accent1"/>
                  </a:solidFill>
                  <a:prstDash val="solid"/>
                  <a:miter lim="800000"/>
                  <a:headEnd type="none" w="sm" len="sm"/>
                  <a:tailEnd type="none" w="sm" len="sm"/>
                </a:ln>
              </p:spPr>
            </p:cxnSp>
            <p:sp>
              <p:nvSpPr>
                <p:cNvPr id="726" name="Google Shape;726;p29"/>
                <p:cNvSpPr/>
                <p:nvPr/>
              </p:nvSpPr>
              <p:spPr>
                <a:xfrm>
                  <a:off x="3758247" y="1957407"/>
                  <a:ext cx="243840" cy="76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7" name="Google Shape;727;p29"/>
                <p:cNvSpPr/>
                <p:nvPr/>
              </p:nvSpPr>
              <p:spPr>
                <a:xfrm>
                  <a:off x="4207827" y="1957407"/>
                  <a:ext cx="243840" cy="76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8" name="Google Shape;728;p29"/>
                <p:cNvSpPr/>
                <p:nvPr/>
              </p:nvSpPr>
              <p:spPr>
                <a:xfrm>
                  <a:off x="4985911" y="1958618"/>
                  <a:ext cx="243840" cy="76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9" name="Google Shape;729;p29"/>
                <p:cNvSpPr/>
                <p:nvPr/>
              </p:nvSpPr>
              <p:spPr>
                <a:xfrm>
                  <a:off x="4626927" y="1963588"/>
                  <a:ext cx="243840" cy="76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sp>
          <p:nvSpPr>
            <p:cNvPr id="730" name="Google Shape;730;p29"/>
            <p:cNvSpPr txBox="1"/>
            <p:nvPr/>
          </p:nvSpPr>
          <p:spPr>
            <a:xfrm>
              <a:off x="3486951" y="2950523"/>
              <a:ext cx="232621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Proximity printing</a:t>
              </a:r>
              <a:endParaRPr sz="2000" b="0" i="0" u="none" strike="noStrike" cap="none">
                <a:solidFill>
                  <a:schemeClr val="dk1"/>
                </a:solidFill>
                <a:latin typeface="Arial"/>
                <a:ea typeface="Arial"/>
                <a:cs typeface="Arial"/>
                <a:sym typeface="Arial"/>
              </a:endParaRPr>
            </a:p>
          </p:txBody>
        </p:sp>
      </p:grpSp>
      <p:grpSp>
        <p:nvGrpSpPr>
          <p:cNvPr id="731" name="Google Shape;731;p29"/>
          <p:cNvGrpSpPr/>
          <p:nvPr/>
        </p:nvGrpSpPr>
        <p:grpSpPr>
          <a:xfrm>
            <a:off x="6290598" y="1430462"/>
            <a:ext cx="2148148" cy="2037949"/>
            <a:chOff x="6618165" y="1439525"/>
            <a:chExt cx="2148148" cy="2037949"/>
          </a:xfrm>
        </p:grpSpPr>
        <p:sp>
          <p:nvSpPr>
            <p:cNvPr id="732" name="Google Shape;732;p29"/>
            <p:cNvSpPr/>
            <p:nvPr/>
          </p:nvSpPr>
          <p:spPr>
            <a:xfrm>
              <a:off x="6744335" y="1760220"/>
              <a:ext cx="1675765" cy="330764"/>
            </a:xfrm>
            <a:prstGeom prst="ellipse">
              <a:avLst/>
            </a:prstGeom>
            <a:solidFill>
              <a:srgbClr val="FFFF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733" name="Google Shape;733;p29"/>
            <p:cNvGrpSpPr/>
            <p:nvPr/>
          </p:nvGrpSpPr>
          <p:grpSpPr>
            <a:xfrm>
              <a:off x="6618165" y="1439525"/>
              <a:ext cx="2148148" cy="2037949"/>
              <a:chOff x="6618165" y="1439525"/>
              <a:chExt cx="2148148" cy="2037949"/>
            </a:xfrm>
          </p:grpSpPr>
          <p:grpSp>
            <p:nvGrpSpPr>
              <p:cNvPr id="734" name="Google Shape;734;p29"/>
              <p:cNvGrpSpPr/>
              <p:nvPr/>
            </p:nvGrpSpPr>
            <p:grpSpPr>
              <a:xfrm>
                <a:off x="6835457" y="1439525"/>
                <a:ext cx="1493520" cy="1637839"/>
                <a:chOff x="6835457" y="1439525"/>
                <a:chExt cx="1493520" cy="1637839"/>
              </a:xfrm>
            </p:grpSpPr>
            <p:grpSp>
              <p:nvGrpSpPr>
                <p:cNvPr id="735" name="Google Shape;735;p29"/>
                <p:cNvGrpSpPr/>
                <p:nvPr/>
              </p:nvGrpSpPr>
              <p:grpSpPr>
                <a:xfrm>
                  <a:off x="6835457" y="2422044"/>
                  <a:ext cx="1493520" cy="655320"/>
                  <a:chOff x="6851015" y="2727960"/>
                  <a:chExt cx="1493520" cy="655320"/>
                </a:xfrm>
              </p:grpSpPr>
              <p:sp>
                <p:nvSpPr>
                  <p:cNvPr id="736" name="Google Shape;736;p29"/>
                  <p:cNvSpPr/>
                  <p:nvPr/>
                </p:nvSpPr>
                <p:spPr>
                  <a:xfrm>
                    <a:off x="6851015" y="2880360"/>
                    <a:ext cx="1493520" cy="502920"/>
                  </a:xfrm>
                  <a:prstGeom prst="rect">
                    <a:avLst/>
                  </a:prstGeom>
                  <a:solidFill>
                    <a:srgbClr val="BFBFBF"/>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7" name="Google Shape;737;p29"/>
                  <p:cNvSpPr/>
                  <p:nvPr/>
                </p:nvSpPr>
                <p:spPr>
                  <a:xfrm>
                    <a:off x="6851015" y="2727960"/>
                    <a:ext cx="1493520" cy="152400"/>
                  </a:xfrm>
                  <a:prstGeom prst="rect">
                    <a:avLst/>
                  </a:prstGeom>
                  <a:solidFill>
                    <a:srgbClr val="BBD6E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738" name="Google Shape;738;p29"/>
                <p:cNvGrpSpPr/>
                <p:nvPr/>
              </p:nvGrpSpPr>
              <p:grpSpPr>
                <a:xfrm>
                  <a:off x="6835457" y="1439525"/>
                  <a:ext cx="1493520" cy="82381"/>
                  <a:chOff x="3758247" y="1957407"/>
                  <a:chExt cx="1493520" cy="82381"/>
                </a:xfrm>
              </p:grpSpPr>
              <p:cxnSp>
                <p:nvCxnSpPr>
                  <p:cNvPr id="739" name="Google Shape;739;p29"/>
                  <p:cNvCxnSpPr/>
                  <p:nvPr/>
                </p:nvCxnSpPr>
                <p:spPr>
                  <a:xfrm>
                    <a:off x="3758247" y="1957407"/>
                    <a:ext cx="1493520" cy="0"/>
                  </a:xfrm>
                  <a:prstGeom prst="straightConnector1">
                    <a:avLst/>
                  </a:prstGeom>
                  <a:noFill/>
                  <a:ln w="9525" cap="flat" cmpd="sng">
                    <a:solidFill>
                      <a:schemeClr val="accent1"/>
                    </a:solidFill>
                    <a:prstDash val="solid"/>
                    <a:miter lim="800000"/>
                    <a:headEnd type="none" w="sm" len="sm"/>
                    <a:tailEnd type="none" w="sm" len="sm"/>
                  </a:ln>
                </p:spPr>
              </p:cxnSp>
              <p:sp>
                <p:nvSpPr>
                  <p:cNvPr id="740" name="Google Shape;740;p29"/>
                  <p:cNvSpPr/>
                  <p:nvPr/>
                </p:nvSpPr>
                <p:spPr>
                  <a:xfrm>
                    <a:off x="3758247" y="1957407"/>
                    <a:ext cx="243840" cy="76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1" name="Google Shape;741;p29"/>
                  <p:cNvSpPr/>
                  <p:nvPr/>
                </p:nvSpPr>
                <p:spPr>
                  <a:xfrm>
                    <a:off x="4207827" y="1957407"/>
                    <a:ext cx="243840" cy="76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2" name="Google Shape;742;p29"/>
                  <p:cNvSpPr/>
                  <p:nvPr/>
                </p:nvSpPr>
                <p:spPr>
                  <a:xfrm>
                    <a:off x="4985911" y="1958618"/>
                    <a:ext cx="243840" cy="76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3" name="Google Shape;743;p29"/>
                  <p:cNvSpPr/>
                  <p:nvPr/>
                </p:nvSpPr>
                <p:spPr>
                  <a:xfrm>
                    <a:off x="4626927" y="1963588"/>
                    <a:ext cx="243840" cy="76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sp>
            <p:nvSpPr>
              <p:cNvPr id="744" name="Google Shape;744;p29"/>
              <p:cNvSpPr txBox="1"/>
              <p:nvPr/>
            </p:nvSpPr>
            <p:spPr>
              <a:xfrm>
                <a:off x="6618165" y="3077364"/>
                <a:ext cx="2148148"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Projection printing</a:t>
                </a:r>
                <a:endParaRPr sz="2000" b="0" i="0" u="none" strike="noStrike" cap="none">
                  <a:solidFill>
                    <a:schemeClr val="dk1"/>
                  </a:solidFill>
                  <a:latin typeface="Calibri"/>
                  <a:ea typeface="Calibri"/>
                  <a:cs typeface="Calibri"/>
                  <a:sym typeface="Calibri"/>
                </a:endParaRPr>
              </a:p>
            </p:txBody>
          </p:sp>
        </p:grpSp>
      </p:grpSp>
      <p:sp>
        <p:nvSpPr>
          <p:cNvPr id="745" name="Google Shape;745;p29"/>
          <p:cNvSpPr txBox="1"/>
          <p:nvPr/>
        </p:nvSpPr>
        <p:spPr>
          <a:xfrm>
            <a:off x="9379536" y="3963138"/>
            <a:ext cx="2104858"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Step and Repeat / Step and Scan</a:t>
            </a:r>
            <a:endParaRPr sz="2000" b="0" i="0" u="none" strike="noStrike" cap="none">
              <a:solidFill>
                <a:schemeClr val="dk1"/>
              </a:solidFill>
              <a:latin typeface="Arial"/>
              <a:ea typeface="Arial"/>
              <a:cs typeface="Arial"/>
              <a:sym typeface="Arial"/>
            </a:endParaRPr>
          </a:p>
        </p:txBody>
      </p:sp>
      <p:sp>
        <p:nvSpPr>
          <p:cNvPr id="746" name="Google Shape;746;p29"/>
          <p:cNvSpPr/>
          <p:nvPr/>
        </p:nvSpPr>
        <p:spPr>
          <a:xfrm>
            <a:off x="2400582" y="2179723"/>
            <a:ext cx="622944" cy="502920"/>
          </a:xfrm>
          <a:prstGeom prst="rightArrow">
            <a:avLst>
              <a:gd name="adj1" fmla="val 50000"/>
              <a:gd name="adj2" fmla="val 50000"/>
            </a:avLst>
          </a:prstGeom>
          <a:solidFill>
            <a:srgbClr val="F7CAA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7" name="Google Shape;747;p29"/>
          <p:cNvSpPr/>
          <p:nvPr/>
        </p:nvSpPr>
        <p:spPr>
          <a:xfrm>
            <a:off x="5476585" y="2179723"/>
            <a:ext cx="622944" cy="502920"/>
          </a:xfrm>
          <a:prstGeom prst="rightArrow">
            <a:avLst>
              <a:gd name="adj1" fmla="val 50000"/>
              <a:gd name="adj2" fmla="val 50000"/>
            </a:avLst>
          </a:prstGeom>
          <a:solidFill>
            <a:srgbClr val="F7CAA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8" name="Google Shape;748;p29"/>
          <p:cNvSpPr/>
          <p:nvPr/>
        </p:nvSpPr>
        <p:spPr>
          <a:xfrm rot="10800000">
            <a:off x="6306565" y="4318927"/>
            <a:ext cx="982755" cy="502920"/>
          </a:xfrm>
          <a:prstGeom prst="rightArrow">
            <a:avLst>
              <a:gd name="adj1" fmla="val 50000"/>
              <a:gd name="adj2" fmla="val 50000"/>
            </a:avLst>
          </a:prstGeom>
          <a:solidFill>
            <a:srgbClr val="F7CAA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9" name="Google Shape;749;p29"/>
          <p:cNvSpPr/>
          <p:nvPr/>
        </p:nvSpPr>
        <p:spPr>
          <a:xfrm>
            <a:off x="1524003" y="4382356"/>
            <a:ext cx="1046669" cy="548640"/>
          </a:xfrm>
          <a:prstGeom prst="wedgeRoundRectCallout">
            <a:avLst>
              <a:gd name="adj1" fmla="val 139882"/>
              <a:gd name="adj2" fmla="val 92374"/>
              <a:gd name="adj3"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Layer of Water</a:t>
            </a:r>
            <a:endParaRPr sz="1400" b="0" i="0" u="none" strike="noStrike" cap="none">
              <a:solidFill>
                <a:srgbClr val="000000"/>
              </a:solidFill>
              <a:latin typeface="Arial"/>
              <a:ea typeface="Arial"/>
              <a:cs typeface="Arial"/>
              <a:sym typeface="Arial"/>
            </a:endParaRPr>
          </a:p>
        </p:txBody>
      </p:sp>
      <p:sp>
        <p:nvSpPr>
          <p:cNvPr id="750" name="Google Shape;750;p29"/>
          <p:cNvSpPr txBox="1"/>
          <p:nvPr/>
        </p:nvSpPr>
        <p:spPr>
          <a:xfrm>
            <a:off x="5476585" y="5206158"/>
            <a:ext cx="2861365"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The latest innovation is immersion lithography</a:t>
            </a:r>
            <a:endParaRPr sz="2000" b="0" i="0" u="none" strike="noStrike" cap="none">
              <a:solidFill>
                <a:schemeClr val="dk1"/>
              </a:solidFill>
              <a:latin typeface="Arial"/>
              <a:ea typeface="Arial"/>
              <a:cs typeface="Arial"/>
              <a:sym typeface="Arial"/>
            </a:endParaRPr>
          </a:p>
        </p:txBody>
      </p:sp>
      <p:sp>
        <p:nvSpPr>
          <p:cNvPr id="751" name="Google Shape;751;p29"/>
          <p:cNvSpPr/>
          <p:nvPr/>
        </p:nvSpPr>
        <p:spPr>
          <a:xfrm>
            <a:off x="8432775" y="2158482"/>
            <a:ext cx="622944" cy="502920"/>
          </a:xfrm>
          <a:prstGeom prst="rightArrow">
            <a:avLst>
              <a:gd name="adj1" fmla="val 50000"/>
              <a:gd name="adj2" fmla="val 50000"/>
            </a:avLst>
          </a:prstGeom>
          <a:solidFill>
            <a:srgbClr val="F7CAA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CONFIDENTIAL</a:t>
            </a:r>
            <a:endParaRPr/>
          </a:p>
        </p:txBody>
      </p:sp>
      <p:sp>
        <p:nvSpPr>
          <p:cNvPr id="757" name="Google Shape;75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
        <p:nvSpPr>
          <p:cNvPr id="758" name="Google Shape;758;p30"/>
          <p:cNvSpPr txBox="1">
            <a:spLocks noGrp="1"/>
          </p:cNvSpPr>
          <p:nvPr>
            <p:ph type="title"/>
          </p:nvPr>
        </p:nvSpPr>
        <p:spPr>
          <a:xfrm>
            <a:off x="141927" y="211350"/>
            <a:ext cx="93948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b="1">
                <a:latin typeface="Cambria"/>
                <a:ea typeface="Cambria"/>
                <a:cs typeface="Cambria"/>
                <a:sym typeface="Cambria"/>
              </a:rPr>
              <a:t>Constraints Faced in Photolithography</a:t>
            </a:r>
            <a:endParaRPr>
              <a:latin typeface="Cambria"/>
              <a:ea typeface="Cambria"/>
              <a:cs typeface="Cambria"/>
              <a:sym typeface="Cambria"/>
            </a:endParaRPr>
          </a:p>
        </p:txBody>
      </p:sp>
      <p:sp>
        <p:nvSpPr>
          <p:cNvPr id="759" name="Google Shape;759;p30"/>
          <p:cNvSpPr/>
          <p:nvPr/>
        </p:nvSpPr>
        <p:spPr>
          <a:xfrm>
            <a:off x="3235399" y="1448291"/>
            <a:ext cx="5721202" cy="789656"/>
          </a:xfrm>
          <a:prstGeom prst="roundRect">
            <a:avLst>
              <a:gd name="adj" fmla="val 16667"/>
            </a:avLst>
          </a:prstGeom>
          <a:solidFill>
            <a:srgbClr val="C9C9C9"/>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rgbClr val="FF0000"/>
                </a:solidFill>
                <a:latin typeface="Calibri"/>
                <a:ea typeface="Calibri"/>
                <a:cs typeface="Calibri"/>
                <a:sym typeface="Calibri"/>
              </a:rPr>
              <a:t>Key Factors of Consideration</a:t>
            </a:r>
            <a:endParaRPr sz="3200" b="0" i="0" u="none" strike="noStrike" cap="none">
              <a:solidFill>
                <a:srgbClr val="FF0000"/>
              </a:solidFill>
              <a:latin typeface="Calibri"/>
              <a:ea typeface="Calibri"/>
              <a:cs typeface="Calibri"/>
              <a:sym typeface="Calibri"/>
            </a:endParaRPr>
          </a:p>
        </p:txBody>
      </p:sp>
      <p:pic>
        <p:nvPicPr>
          <p:cNvPr id="760" name="Google Shape;760;p30"/>
          <p:cNvPicPr preferRelativeResize="0"/>
          <p:nvPr/>
        </p:nvPicPr>
        <p:blipFill rotWithShape="1">
          <a:blip r:embed="rId3">
            <a:alphaModFix/>
          </a:blip>
          <a:srcRect/>
          <a:stretch/>
        </p:blipFill>
        <p:spPr>
          <a:xfrm>
            <a:off x="635318" y="2434471"/>
            <a:ext cx="4181475" cy="1171575"/>
          </a:xfrm>
          <a:prstGeom prst="rect">
            <a:avLst/>
          </a:prstGeom>
          <a:noFill/>
          <a:ln>
            <a:noFill/>
          </a:ln>
        </p:spPr>
      </p:pic>
      <p:sp>
        <p:nvSpPr>
          <p:cNvPr id="761" name="Google Shape;761;p30"/>
          <p:cNvSpPr txBox="1"/>
          <p:nvPr/>
        </p:nvSpPr>
        <p:spPr>
          <a:xfrm>
            <a:off x="5218414" y="2571944"/>
            <a:ext cx="5090160"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Where k</a:t>
            </a:r>
            <a:r>
              <a:rPr lang="en-US" sz="1400" b="0" i="0" u="none" strike="noStrike" cap="none">
                <a:solidFill>
                  <a:schemeClr val="dk1"/>
                </a:solidFill>
                <a:latin typeface="Calibri"/>
                <a:ea typeface="Calibri"/>
                <a:cs typeface="Calibri"/>
                <a:sym typeface="Calibri"/>
              </a:rPr>
              <a:t>1</a:t>
            </a:r>
            <a:r>
              <a:rPr lang="en-US" sz="1800" b="0" i="0" u="none" strike="noStrike" cap="none">
                <a:solidFill>
                  <a:schemeClr val="dk1"/>
                </a:solidFill>
                <a:latin typeface="Calibri"/>
                <a:ea typeface="Calibri"/>
                <a:cs typeface="Calibri"/>
                <a:sym typeface="Calibri"/>
              </a:rPr>
              <a:t> = process constant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λ</a:t>
            </a:r>
            <a:r>
              <a:rPr lang="en-US" sz="1800" b="0" i="0" u="none" strike="noStrike" cap="none">
                <a:solidFill>
                  <a:schemeClr val="dk1"/>
                </a:solidFill>
                <a:latin typeface="Calibri"/>
                <a:ea typeface="Calibri"/>
                <a:cs typeface="Calibri"/>
                <a:sym typeface="Calibri"/>
              </a:rPr>
              <a:t> = Wavelength of the illuminating light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NA</a:t>
            </a:r>
            <a:r>
              <a:rPr lang="en-US" sz="1800" b="0" i="0" u="none" strike="noStrike" cap="none">
                <a:solidFill>
                  <a:schemeClr val="dk1"/>
                </a:solidFill>
                <a:latin typeface="Calibri"/>
                <a:ea typeface="Calibri"/>
                <a:cs typeface="Calibri"/>
                <a:sym typeface="Calibri"/>
              </a:rPr>
              <a:t>= Numerical Aperture Of the Lens</a:t>
            </a:r>
            <a:endParaRPr sz="1800" b="0" i="0" u="none" strike="noStrike" cap="none">
              <a:solidFill>
                <a:schemeClr val="dk1"/>
              </a:solidFill>
              <a:latin typeface="Calibri"/>
              <a:ea typeface="Calibri"/>
              <a:cs typeface="Calibri"/>
              <a:sym typeface="Calibri"/>
            </a:endParaRPr>
          </a:p>
        </p:txBody>
      </p:sp>
      <p:pic>
        <p:nvPicPr>
          <p:cNvPr id="762" name="Google Shape;762;p30"/>
          <p:cNvPicPr preferRelativeResize="0"/>
          <p:nvPr/>
        </p:nvPicPr>
        <p:blipFill rotWithShape="1">
          <a:blip r:embed="rId4">
            <a:alphaModFix/>
          </a:blip>
          <a:srcRect/>
          <a:stretch/>
        </p:blipFill>
        <p:spPr>
          <a:xfrm>
            <a:off x="539820" y="3859193"/>
            <a:ext cx="3362325" cy="1066800"/>
          </a:xfrm>
          <a:prstGeom prst="rect">
            <a:avLst/>
          </a:prstGeom>
          <a:noFill/>
          <a:ln>
            <a:noFill/>
          </a:ln>
        </p:spPr>
      </p:pic>
      <p:sp>
        <p:nvSpPr>
          <p:cNvPr id="763" name="Google Shape;763;p30"/>
          <p:cNvSpPr txBox="1"/>
          <p:nvPr/>
        </p:nvSpPr>
        <p:spPr>
          <a:xfrm>
            <a:off x="5218414" y="4069427"/>
            <a:ext cx="5090160"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DOF Depth of Focus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Where k</a:t>
            </a:r>
            <a:r>
              <a:rPr lang="en-US" sz="1050" b="0" i="0" u="none" strike="noStrike" cap="none">
                <a:solidFill>
                  <a:schemeClr val="dk1"/>
                </a:solidFill>
                <a:latin typeface="Calibri"/>
                <a:ea typeface="Calibri"/>
                <a:cs typeface="Calibri"/>
                <a:sym typeface="Calibri"/>
              </a:rPr>
              <a:t>2</a:t>
            </a:r>
            <a:r>
              <a:rPr lang="en-US" sz="1800" b="0" i="0" u="none" strike="noStrike" cap="none">
                <a:solidFill>
                  <a:schemeClr val="dk1"/>
                </a:solidFill>
                <a:latin typeface="Calibri"/>
                <a:ea typeface="Calibri"/>
                <a:cs typeface="Calibri"/>
                <a:sym typeface="Calibri"/>
              </a:rPr>
              <a:t> = criteria for acceptable imaging and type of feature </a:t>
            </a:r>
            <a:endParaRPr sz="1800" b="0" i="0" u="none" strike="noStrike" cap="none">
              <a:solidFill>
                <a:schemeClr val="dk1"/>
              </a:solidFill>
              <a:latin typeface="Calibri"/>
              <a:ea typeface="Calibri"/>
              <a:cs typeface="Calibri"/>
              <a:sym typeface="Calibri"/>
            </a:endParaRPr>
          </a:p>
        </p:txBody>
      </p:sp>
      <p:sp>
        <p:nvSpPr>
          <p:cNvPr id="764" name="Google Shape;764;p30"/>
          <p:cNvSpPr/>
          <p:nvPr/>
        </p:nvSpPr>
        <p:spPr>
          <a:xfrm>
            <a:off x="9452758" y="2743200"/>
            <a:ext cx="2095750" cy="486888"/>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Rayleigh</a:t>
            </a:r>
            <a:r>
              <a:rPr lang="en-US" sz="1800" b="0" i="0" u="none" strike="noStrike" cap="none">
                <a:solidFill>
                  <a:schemeClr val="lt1"/>
                </a:solidFill>
                <a:latin typeface="Calibri"/>
                <a:ea typeface="Calibri"/>
                <a:cs typeface="Calibri"/>
                <a:sym typeface="Calibri"/>
              </a:rPr>
              <a:t> criterion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CONFIDENTIAL</a:t>
            </a:r>
            <a:endParaRPr/>
          </a:p>
        </p:txBody>
      </p:sp>
      <p:sp>
        <p:nvSpPr>
          <p:cNvPr id="770" name="Google Shape;770;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
        <p:nvSpPr>
          <p:cNvPr id="771" name="Google Shape;771;p31"/>
          <p:cNvSpPr txBox="1">
            <a:spLocks noGrp="1"/>
          </p:cNvSpPr>
          <p:nvPr>
            <p:ph type="title"/>
          </p:nvPr>
        </p:nvSpPr>
        <p:spPr>
          <a:xfrm>
            <a:off x="435523" y="365125"/>
            <a:ext cx="8175000" cy="102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400" b="1">
                <a:latin typeface="Cambria"/>
                <a:ea typeface="Cambria"/>
                <a:cs typeface="Cambria"/>
                <a:sym typeface="Cambria"/>
              </a:rPr>
              <a:t>Exposure Wavelengths</a:t>
            </a:r>
            <a:endParaRPr>
              <a:latin typeface="Cambria"/>
              <a:ea typeface="Cambria"/>
              <a:cs typeface="Cambria"/>
              <a:sym typeface="Cambria"/>
            </a:endParaRPr>
          </a:p>
        </p:txBody>
      </p:sp>
      <p:sp>
        <p:nvSpPr>
          <p:cNvPr id="772" name="Google Shape;772;p31"/>
          <p:cNvSpPr txBox="1"/>
          <p:nvPr/>
        </p:nvSpPr>
        <p:spPr>
          <a:xfrm>
            <a:off x="530555" y="1519701"/>
            <a:ext cx="3794760" cy="33239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sng" strike="noStrike" cap="none">
                <a:solidFill>
                  <a:schemeClr val="dk1"/>
                </a:solidFill>
                <a:latin typeface="Arial"/>
                <a:ea typeface="Arial"/>
                <a:cs typeface="Arial"/>
                <a:sym typeface="Arial"/>
              </a:rPr>
              <a:t>1980-1990s </a:t>
            </a:r>
            <a:r>
              <a:rPr lang="en-US" sz="24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g-line –  436nm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h-line – 405nm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sng" strike="noStrike" cap="none">
                <a:solidFill>
                  <a:schemeClr val="dk1"/>
                </a:solidFill>
                <a:latin typeface="Arial"/>
                <a:ea typeface="Arial"/>
                <a:cs typeface="Arial"/>
                <a:sym typeface="Arial"/>
              </a:rPr>
              <a:t>1990s-today</a:t>
            </a:r>
            <a:r>
              <a:rPr lang="en-US" sz="24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i-line – 365nm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DUV --  248nm (KrF)</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             193nm (ArF</a:t>
            </a:r>
            <a:r>
              <a:rPr lang="en-US" sz="18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773" name="Google Shape;773;p31"/>
          <p:cNvGrpSpPr/>
          <p:nvPr/>
        </p:nvGrpSpPr>
        <p:grpSpPr>
          <a:xfrm>
            <a:off x="4052181" y="1519701"/>
            <a:ext cx="3409131" cy="2886044"/>
            <a:chOff x="1191579" y="3002810"/>
            <a:chExt cx="2641282" cy="2205201"/>
          </a:xfrm>
        </p:grpSpPr>
        <p:pic>
          <p:nvPicPr>
            <p:cNvPr id="774" name="Google Shape;774;p31"/>
            <p:cNvPicPr preferRelativeResize="0"/>
            <p:nvPr/>
          </p:nvPicPr>
          <p:blipFill rotWithShape="1">
            <a:blip r:embed="rId3">
              <a:alphaModFix/>
            </a:blip>
            <a:srcRect/>
            <a:stretch/>
          </p:blipFill>
          <p:spPr>
            <a:xfrm>
              <a:off x="1191579" y="3372142"/>
              <a:ext cx="2641282" cy="1835869"/>
            </a:xfrm>
            <a:prstGeom prst="rect">
              <a:avLst/>
            </a:prstGeom>
            <a:noFill/>
            <a:ln>
              <a:noFill/>
            </a:ln>
          </p:spPr>
        </p:pic>
        <p:sp>
          <p:nvSpPr>
            <p:cNvPr id="775" name="Google Shape;775;p31"/>
            <p:cNvSpPr txBox="1"/>
            <p:nvPr/>
          </p:nvSpPr>
          <p:spPr>
            <a:xfrm>
              <a:off x="1191579" y="3002810"/>
              <a:ext cx="2641282" cy="30572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sng" strike="noStrike" cap="none">
                  <a:solidFill>
                    <a:schemeClr val="dk1"/>
                  </a:solidFill>
                  <a:latin typeface="Arial"/>
                  <a:ea typeface="Arial"/>
                  <a:cs typeface="Arial"/>
                  <a:sym typeface="Arial"/>
                </a:rPr>
                <a:t>Mercury Arc Lamp</a:t>
              </a:r>
              <a:endParaRPr sz="2000" b="1" i="0" u="sng" strike="noStrike" cap="none">
                <a:solidFill>
                  <a:schemeClr val="dk1"/>
                </a:solidFill>
                <a:latin typeface="Arial"/>
                <a:ea typeface="Arial"/>
                <a:cs typeface="Arial"/>
                <a:sym typeface="Arial"/>
              </a:endParaRPr>
            </a:p>
          </p:txBody>
        </p:sp>
      </p:grpSp>
      <p:pic>
        <p:nvPicPr>
          <p:cNvPr id="776" name="Google Shape;776;p31" descr="News tagged Cymer at DIGITIMES"/>
          <p:cNvPicPr preferRelativeResize="0"/>
          <p:nvPr/>
        </p:nvPicPr>
        <p:blipFill rotWithShape="1">
          <a:blip r:embed="rId4">
            <a:alphaModFix/>
          </a:blip>
          <a:srcRect/>
          <a:stretch/>
        </p:blipFill>
        <p:spPr>
          <a:xfrm>
            <a:off x="8469399" y="1386384"/>
            <a:ext cx="3114102" cy="2707915"/>
          </a:xfrm>
          <a:prstGeom prst="rect">
            <a:avLst/>
          </a:prstGeom>
          <a:noFill/>
          <a:ln>
            <a:noFill/>
          </a:ln>
        </p:spPr>
      </p:pic>
      <p:sp>
        <p:nvSpPr>
          <p:cNvPr id="777" name="Google Shape;777;p31"/>
          <p:cNvSpPr txBox="1"/>
          <p:nvPr/>
        </p:nvSpPr>
        <p:spPr>
          <a:xfrm>
            <a:off x="8981421" y="4117408"/>
            <a:ext cx="2090057"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sng" strike="noStrike" cap="none">
                <a:solidFill>
                  <a:schemeClr val="dk1"/>
                </a:solidFill>
                <a:latin typeface="Arial"/>
                <a:ea typeface="Arial"/>
                <a:cs typeface="Arial"/>
                <a:sym typeface="Arial"/>
              </a:rPr>
              <a:t>Excimer Lasers</a:t>
            </a:r>
            <a:endParaRPr sz="1400" b="0" i="0" u="none" strike="noStrike" cap="none">
              <a:solidFill>
                <a:srgbClr val="000000"/>
              </a:solidFill>
              <a:latin typeface="Arial"/>
              <a:ea typeface="Arial"/>
              <a:cs typeface="Arial"/>
              <a:sym typeface="Arial"/>
            </a:endParaRPr>
          </a:p>
        </p:txBody>
      </p:sp>
      <p:sp>
        <p:nvSpPr>
          <p:cNvPr id="778" name="Google Shape;778;p31"/>
          <p:cNvSpPr txBox="1"/>
          <p:nvPr/>
        </p:nvSpPr>
        <p:spPr>
          <a:xfrm>
            <a:off x="1113496" y="4650835"/>
            <a:ext cx="9559636"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70C0"/>
                </a:solidFill>
                <a:latin typeface="Arial"/>
                <a:ea typeface="Arial"/>
                <a:cs typeface="Arial"/>
                <a:sym typeface="Arial"/>
              </a:rPr>
              <a:t>One of the key considerations pertains to the intensity of the different light sources used in the exposure, which will directly impact the choice of the photoresist chosen for the application.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2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
        <p:nvSpPr>
          <p:cNvPr id="784" name="Google Shape;784;p217"/>
          <p:cNvSpPr txBox="1">
            <a:spLocks noGrp="1"/>
          </p:cNvSpPr>
          <p:nvPr>
            <p:ph type="title"/>
          </p:nvPr>
        </p:nvSpPr>
        <p:spPr>
          <a:xfrm>
            <a:off x="262128" y="282829"/>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400" b="1">
                <a:latin typeface="Cambria"/>
                <a:ea typeface="Cambria"/>
                <a:cs typeface="Cambria"/>
                <a:sym typeface="Cambria"/>
              </a:rPr>
              <a:t>Extreme Ultraviolet (EUV)</a:t>
            </a:r>
            <a:endParaRPr/>
          </a:p>
        </p:txBody>
      </p:sp>
      <p:sp>
        <p:nvSpPr>
          <p:cNvPr id="785" name="Google Shape;785;p217"/>
          <p:cNvSpPr txBox="1"/>
          <p:nvPr/>
        </p:nvSpPr>
        <p:spPr>
          <a:xfrm>
            <a:off x="813816" y="1645212"/>
            <a:ext cx="10131552" cy="1938992"/>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00000"/>
              </a:lnSpc>
              <a:spcBef>
                <a:spcPts val="0"/>
              </a:spcBef>
              <a:spcAft>
                <a:spcPts val="0"/>
              </a:spcAft>
              <a:buClr>
                <a:srgbClr val="000000"/>
              </a:buClr>
              <a:buSzPts val="2400"/>
              <a:buFont typeface="Arial"/>
              <a:buChar char="•"/>
            </a:pPr>
            <a:r>
              <a:rPr lang="en-US" sz="2400" b="0" i="0" u="none" strike="noStrike" cap="none">
                <a:solidFill>
                  <a:srgbClr val="000000"/>
                </a:solidFill>
                <a:latin typeface="Cambria"/>
                <a:ea typeface="Cambria"/>
                <a:cs typeface="Cambria"/>
                <a:sym typeface="Cambria"/>
              </a:rPr>
              <a:t>KrF and ArF did not contribute to radical changes in the wavelength for the exposure.</a:t>
            </a:r>
            <a:endParaRPr/>
          </a:p>
          <a:p>
            <a:pPr marL="342900" marR="0" lvl="0" indent="-342900" algn="just" rtl="0">
              <a:lnSpc>
                <a:spcPct val="100000"/>
              </a:lnSpc>
              <a:spcBef>
                <a:spcPts val="0"/>
              </a:spcBef>
              <a:spcAft>
                <a:spcPts val="0"/>
              </a:spcAft>
              <a:buClr>
                <a:srgbClr val="000000"/>
              </a:buClr>
              <a:buSzPts val="2400"/>
              <a:buFont typeface="Arial"/>
              <a:buChar char="•"/>
            </a:pPr>
            <a:r>
              <a:rPr lang="en-US" sz="2400" b="0" i="0" u="none" strike="noStrike" cap="none">
                <a:solidFill>
                  <a:srgbClr val="000000"/>
                </a:solidFill>
                <a:latin typeface="Cambria"/>
                <a:ea typeface="Cambria"/>
                <a:cs typeface="Cambria"/>
                <a:sym typeface="Cambria"/>
              </a:rPr>
              <a:t>In the next leap forward, the industry has adopted EUV lithography, where the wavelength has dropped to 13.5nm.</a:t>
            </a:r>
            <a:endParaRPr/>
          </a:p>
          <a:p>
            <a:pPr marL="0" marR="0" lvl="0" indent="0" algn="just" rtl="0">
              <a:lnSpc>
                <a:spcPct val="100000"/>
              </a:lnSpc>
              <a:spcBef>
                <a:spcPts val="0"/>
              </a:spcBef>
              <a:spcAft>
                <a:spcPts val="0"/>
              </a:spcAft>
              <a:buNone/>
            </a:pPr>
            <a:endParaRPr sz="2400" b="0" i="0" u="none" strike="noStrike" cap="none">
              <a:solidFill>
                <a:srgbClr val="000000"/>
              </a:solidFill>
              <a:latin typeface="Cambria"/>
              <a:ea typeface="Cambria"/>
              <a:cs typeface="Cambria"/>
              <a:sym typeface="Cambria"/>
            </a:endParaRPr>
          </a:p>
        </p:txBody>
      </p:sp>
      <p:pic>
        <p:nvPicPr>
          <p:cNvPr id="786" name="Google Shape;786;p217"/>
          <p:cNvPicPr preferRelativeResize="0"/>
          <p:nvPr/>
        </p:nvPicPr>
        <p:blipFill rotWithShape="1">
          <a:blip r:embed="rId3">
            <a:alphaModFix/>
          </a:blip>
          <a:srcRect/>
          <a:stretch/>
        </p:blipFill>
        <p:spPr>
          <a:xfrm>
            <a:off x="1338453" y="3429000"/>
            <a:ext cx="4181475" cy="1171575"/>
          </a:xfrm>
          <a:prstGeom prst="rect">
            <a:avLst/>
          </a:prstGeom>
          <a:noFill/>
          <a:ln>
            <a:noFill/>
          </a:ln>
        </p:spPr>
      </p:pic>
      <p:sp>
        <p:nvSpPr>
          <p:cNvPr id="787" name="Google Shape;787;p217"/>
          <p:cNvSpPr txBox="1"/>
          <p:nvPr/>
        </p:nvSpPr>
        <p:spPr>
          <a:xfrm>
            <a:off x="6096000" y="3411042"/>
            <a:ext cx="4812855" cy="193899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2400" b="0" i="0" u="none" strike="noStrike" cap="none">
                <a:solidFill>
                  <a:srgbClr val="000000"/>
                </a:solidFill>
                <a:latin typeface="Cambria"/>
                <a:ea typeface="Cambria"/>
                <a:cs typeface="Cambria"/>
                <a:sym typeface="Cambria"/>
              </a:rPr>
              <a:t>With the application of RET and OPC techniques, the K1 factor can be reduced, thus providing for geometries of under 9nm can be fabricated in the industry.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2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
        <p:nvSpPr>
          <p:cNvPr id="793" name="Google Shape;793;p218"/>
          <p:cNvSpPr txBox="1">
            <a:spLocks noGrp="1"/>
          </p:cNvSpPr>
          <p:nvPr>
            <p:ph type="title"/>
          </p:nvPr>
        </p:nvSpPr>
        <p:spPr>
          <a:xfrm>
            <a:off x="316992" y="154178"/>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400" b="1">
                <a:latin typeface="Cambria"/>
                <a:ea typeface="Cambria"/>
                <a:cs typeface="Cambria"/>
                <a:sym typeface="Cambria"/>
              </a:rPr>
              <a:t>EUV Laser Systems</a:t>
            </a:r>
            <a:endParaRPr/>
          </a:p>
        </p:txBody>
      </p:sp>
      <p:sp>
        <p:nvSpPr>
          <p:cNvPr id="794" name="Google Shape;794;p218"/>
          <p:cNvSpPr txBox="1"/>
          <p:nvPr/>
        </p:nvSpPr>
        <p:spPr>
          <a:xfrm>
            <a:off x="1615440" y="1825026"/>
            <a:ext cx="8961120" cy="2677656"/>
          </a:xfrm>
          <a:prstGeom prst="rect">
            <a:avLst/>
          </a:prstGeom>
          <a:noFill/>
          <a:ln>
            <a:noFill/>
          </a:ln>
        </p:spPr>
        <p:txBody>
          <a:bodyPr spcFirstLastPara="1" wrap="square" lIns="91425" tIns="45700" rIns="91425" bIns="45700" anchor="t" anchorCtr="0">
            <a:spAutoFit/>
          </a:bodyPr>
          <a:lstStyle/>
          <a:p>
            <a:pPr marL="457200" marR="0" lvl="0" indent="-457200" algn="just"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ambria"/>
                <a:ea typeface="Cambria"/>
                <a:cs typeface="Cambria"/>
                <a:sym typeface="Cambria"/>
              </a:rPr>
              <a:t>The system consists of a 40 kW CO</a:t>
            </a:r>
            <a:r>
              <a:rPr lang="en-US" sz="2800" b="0" i="0" u="none" strike="noStrike" cap="none" baseline="-25000">
                <a:solidFill>
                  <a:srgbClr val="000000"/>
                </a:solidFill>
                <a:latin typeface="Cambria"/>
                <a:ea typeface="Cambria"/>
                <a:cs typeface="Cambria"/>
                <a:sym typeface="Cambria"/>
              </a:rPr>
              <a:t>2</a:t>
            </a:r>
            <a:r>
              <a:rPr lang="en-US" sz="2800" b="0" i="0" u="none" strike="noStrike" cap="none">
                <a:solidFill>
                  <a:srgbClr val="000000"/>
                </a:solidFill>
                <a:latin typeface="Cambria"/>
                <a:ea typeface="Cambria"/>
                <a:cs typeface="Cambria"/>
                <a:sym typeface="Cambria"/>
              </a:rPr>
              <a:t> laser, </a:t>
            </a:r>
            <a:r>
              <a:rPr lang="en-US" sz="2800" b="0" i="0" u="none" strike="noStrike" cap="none">
                <a:solidFill>
                  <a:srgbClr val="000000"/>
                </a:solidFill>
                <a:latin typeface="Lora"/>
                <a:ea typeface="Lora"/>
                <a:cs typeface="Lora"/>
                <a:sym typeface="Lora"/>
              </a:rPr>
              <a:t>to </a:t>
            </a:r>
            <a:r>
              <a:rPr lang="en-US" sz="2800" b="0" i="0" u="none" strike="noStrike" cap="none">
                <a:solidFill>
                  <a:srgbClr val="000000"/>
                </a:solidFill>
                <a:latin typeface="Cambria"/>
                <a:ea typeface="Cambria"/>
                <a:cs typeface="Cambria"/>
                <a:sym typeface="Cambria"/>
              </a:rPr>
              <a:t>create EUV radiation from a 30 µm droplet of tin.</a:t>
            </a:r>
            <a:endParaRPr/>
          </a:p>
          <a:p>
            <a:pPr marL="457200" marR="0" lvl="0" indent="-457200" algn="just"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ambria"/>
                <a:ea typeface="Cambria"/>
                <a:cs typeface="Cambria"/>
                <a:sym typeface="Cambria"/>
              </a:rPr>
              <a:t>This laser is able to provide a beam intensity of 250W for the exposure of the wafers.</a:t>
            </a:r>
            <a:endParaRPr/>
          </a:p>
          <a:p>
            <a:pPr marL="457200" marR="0" lvl="0" indent="-457200" algn="just"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Cambria"/>
                <a:ea typeface="Cambria"/>
                <a:cs typeface="Cambria"/>
                <a:sym typeface="Cambria"/>
              </a:rPr>
              <a:t>A major shortcoming of this system is the power supply requirements to drive it: 1MW!</a:t>
            </a:r>
            <a:endParaRPr sz="2800" b="0" i="0" u="none" strike="noStrike" cap="none">
              <a:solidFill>
                <a:srgbClr val="000000"/>
              </a:solidFill>
              <a:latin typeface="Cambria"/>
              <a:ea typeface="Cambria"/>
              <a:cs typeface="Cambria"/>
              <a:sym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CONFIDENTIAL</a:t>
            </a:r>
            <a:endParaRPr/>
          </a:p>
        </p:txBody>
      </p:sp>
      <p:sp>
        <p:nvSpPr>
          <p:cNvPr id="800" name="Google Shape;800;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
        <p:nvSpPr>
          <p:cNvPr id="801" name="Google Shape;801;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b="1"/>
              <a:t>The 2 Families of Photoresist</a:t>
            </a:r>
            <a:endParaRPr/>
          </a:p>
        </p:txBody>
      </p:sp>
      <p:grpSp>
        <p:nvGrpSpPr>
          <p:cNvPr id="802" name="Google Shape;802;p32"/>
          <p:cNvGrpSpPr/>
          <p:nvPr/>
        </p:nvGrpSpPr>
        <p:grpSpPr>
          <a:xfrm>
            <a:off x="2733072" y="1406467"/>
            <a:ext cx="7009722" cy="4730545"/>
            <a:chOff x="839684" y="1494593"/>
            <a:chExt cx="7009722" cy="4730545"/>
          </a:xfrm>
        </p:grpSpPr>
        <p:grpSp>
          <p:nvGrpSpPr>
            <p:cNvPr id="803" name="Google Shape;803;p32"/>
            <p:cNvGrpSpPr/>
            <p:nvPr/>
          </p:nvGrpSpPr>
          <p:grpSpPr>
            <a:xfrm>
              <a:off x="839684" y="1494593"/>
              <a:ext cx="7009722" cy="4200526"/>
              <a:chOff x="495300" y="936452"/>
              <a:chExt cx="7009722" cy="4200526"/>
            </a:xfrm>
          </p:grpSpPr>
          <p:sp>
            <p:nvSpPr>
              <p:cNvPr id="804" name="Google Shape;804;p32"/>
              <p:cNvSpPr txBox="1"/>
              <p:nvPr/>
            </p:nvSpPr>
            <p:spPr>
              <a:xfrm>
                <a:off x="495300" y="1627213"/>
                <a:ext cx="131064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Exposure</a:t>
                </a:r>
                <a:endParaRPr sz="2000" b="0" i="0" u="none" strike="noStrike" cap="none">
                  <a:solidFill>
                    <a:schemeClr val="dk1"/>
                  </a:solidFill>
                  <a:latin typeface="Arial"/>
                  <a:ea typeface="Arial"/>
                  <a:cs typeface="Arial"/>
                  <a:sym typeface="Arial"/>
                </a:endParaRPr>
              </a:p>
            </p:txBody>
          </p:sp>
          <p:sp>
            <p:nvSpPr>
              <p:cNvPr id="805" name="Google Shape;805;p32"/>
              <p:cNvSpPr txBox="1"/>
              <p:nvPr/>
            </p:nvSpPr>
            <p:spPr>
              <a:xfrm>
                <a:off x="540737" y="3014754"/>
                <a:ext cx="131064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Develop</a:t>
                </a:r>
                <a:endParaRPr sz="2000" b="0" i="0" u="none" strike="noStrike" cap="none">
                  <a:solidFill>
                    <a:schemeClr val="dk1"/>
                  </a:solidFill>
                  <a:latin typeface="Arial"/>
                  <a:ea typeface="Arial"/>
                  <a:cs typeface="Arial"/>
                  <a:sym typeface="Arial"/>
                </a:endParaRPr>
              </a:p>
            </p:txBody>
          </p:sp>
          <p:sp>
            <p:nvSpPr>
              <p:cNvPr id="806" name="Google Shape;806;p32"/>
              <p:cNvSpPr txBox="1"/>
              <p:nvPr/>
            </p:nvSpPr>
            <p:spPr>
              <a:xfrm>
                <a:off x="495300" y="3865285"/>
                <a:ext cx="96171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Etch</a:t>
                </a:r>
                <a:endParaRPr sz="2000" b="0" i="0" u="none" strike="noStrike" cap="none">
                  <a:solidFill>
                    <a:schemeClr val="dk1"/>
                  </a:solidFill>
                  <a:latin typeface="Arial"/>
                  <a:ea typeface="Arial"/>
                  <a:cs typeface="Arial"/>
                  <a:sym typeface="Arial"/>
                </a:endParaRPr>
              </a:p>
            </p:txBody>
          </p:sp>
          <p:grpSp>
            <p:nvGrpSpPr>
              <p:cNvPr id="807" name="Google Shape;807;p32"/>
              <p:cNvGrpSpPr/>
              <p:nvPr/>
            </p:nvGrpSpPr>
            <p:grpSpPr>
              <a:xfrm>
                <a:off x="2061963" y="982352"/>
                <a:ext cx="2461288" cy="4154626"/>
                <a:chOff x="2061963" y="982352"/>
                <a:chExt cx="2461288" cy="4154626"/>
              </a:xfrm>
            </p:grpSpPr>
            <p:sp>
              <p:nvSpPr>
                <p:cNvPr id="808" name="Google Shape;808;p32"/>
                <p:cNvSpPr/>
                <p:nvPr/>
              </p:nvSpPr>
              <p:spPr>
                <a:xfrm>
                  <a:off x="4105750" y="3093071"/>
                  <a:ext cx="406333" cy="225681"/>
                </a:xfrm>
                <a:prstGeom prst="rect">
                  <a:avLst/>
                </a:prstGeom>
                <a:solidFill>
                  <a:srgbClr val="BBD6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09" name="Google Shape;809;p32"/>
                <p:cNvSpPr/>
                <p:nvPr/>
              </p:nvSpPr>
              <p:spPr>
                <a:xfrm>
                  <a:off x="2758511" y="3323775"/>
                  <a:ext cx="1758761" cy="120623"/>
                </a:xfrm>
                <a:prstGeom prst="rect">
                  <a:avLst/>
                </a:prstGeom>
                <a:solidFill>
                  <a:srgbClr val="2E75B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C0C0C"/>
                      </a:solidFill>
                      <a:latin typeface="Calibri"/>
                      <a:ea typeface="Calibri"/>
                      <a:cs typeface="Calibri"/>
                      <a:sym typeface="Calibri"/>
                    </a:rPr>
                    <a:t>Oxide</a:t>
                  </a:r>
                  <a:endParaRPr sz="800" b="0" i="0" u="none" strike="noStrike" cap="none">
                    <a:solidFill>
                      <a:srgbClr val="0C0C0C"/>
                    </a:solidFill>
                    <a:latin typeface="Calibri"/>
                    <a:ea typeface="Calibri"/>
                    <a:cs typeface="Calibri"/>
                    <a:sym typeface="Calibri"/>
                  </a:endParaRPr>
                </a:p>
              </p:txBody>
            </p:sp>
            <p:sp>
              <p:nvSpPr>
                <p:cNvPr id="810" name="Google Shape;810;p32"/>
                <p:cNvSpPr/>
                <p:nvPr/>
              </p:nvSpPr>
              <p:spPr>
                <a:xfrm>
                  <a:off x="2758511" y="3090309"/>
                  <a:ext cx="329492" cy="225681"/>
                </a:xfrm>
                <a:prstGeom prst="rect">
                  <a:avLst/>
                </a:prstGeom>
                <a:solidFill>
                  <a:srgbClr val="BBD6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1" name="Google Shape;811;p32"/>
                <p:cNvSpPr/>
                <p:nvPr/>
              </p:nvSpPr>
              <p:spPr>
                <a:xfrm>
                  <a:off x="3401630" y="3090310"/>
                  <a:ext cx="395682" cy="225681"/>
                </a:xfrm>
                <a:prstGeom prst="rect">
                  <a:avLst/>
                </a:prstGeom>
                <a:solidFill>
                  <a:srgbClr val="BBD6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2" name="Google Shape;812;p32"/>
                <p:cNvSpPr/>
                <p:nvPr/>
              </p:nvSpPr>
              <p:spPr>
                <a:xfrm>
                  <a:off x="2756788" y="3444398"/>
                  <a:ext cx="1758761" cy="120623"/>
                </a:xfrm>
                <a:prstGeom prst="rect">
                  <a:avLst/>
                </a:prstGeom>
                <a:solidFill>
                  <a:srgbClr val="D8D8D8"/>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C0C0C"/>
                      </a:solidFill>
                      <a:latin typeface="Calibri"/>
                      <a:ea typeface="Calibri"/>
                      <a:cs typeface="Calibri"/>
                      <a:sym typeface="Calibri"/>
                    </a:rPr>
                    <a:t>Substrate</a:t>
                  </a:r>
                  <a:endParaRPr sz="800" b="0" i="0" u="none" strike="noStrike" cap="none">
                    <a:solidFill>
                      <a:srgbClr val="0C0C0C"/>
                    </a:solidFill>
                    <a:latin typeface="Calibri"/>
                    <a:ea typeface="Calibri"/>
                    <a:cs typeface="Calibri"/>
                    <a:sym typeface="Calibri"/>
                  </a:endParaRPr>
                </a:p>
              </p:txBody>
            </p:sp>
            <p:grpSp>
              <p:nvGrpSpPr>
                <p:cNvPr id="813" name="Google Shape;813;p32"/>
                <p:cNvGrpSpPr/>
                <p:nvPr/>
              </p:nvGrpSpPr>
              <p:grpSpPr>
                <a:xfrm>
                  <a:off x="2762767" y="982352"/>
                  <a:ext cx="1760484" cy="1849166"/>
                  <a:chOff x="605526" y="1347904"/>
                  <a:chExt cx="1760484" cy="1849166"/>
                </a:xfrm>
              </p:grpSpPr>
              <p:sp>
                <p:nvSpPr>
                  <p:cNvPr id="814" name="Google Shape;814;p32"/>
                  <p:cNvSpPr/>
                  <p:nvPr/>
                </p:nvSpPr>
                <p:spPr>
                  <a:xfrm>
                    <a:off x="1954488" y="2725120"/>
                    <a:ext cx="406333" cy="225681"/>
                  </a:xfrm>
                  <a:prstGeom prst="rect">
                    <a:avLst/>
                  </a:prstGeom>
                  <a:solidFill>
                    <a:srgbClr val="BBD6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815" name="Google Shape;815;p32"/>
                  <p:cNvGrpSpPr/>
                  <p:nvPr/>
                </p:nvGrpSpPr>
                <p:grpSpPr>
                  <a:xfrm>
                    <a:off x="605526" y="1347904"/>
                    <a:ext cx="1760484" cy="1849166"/>
                    <a:chOff x="1525741" y="938316"/>
                    <a:chExt cx="1760484" cy="1849166"/>
                  </a:xfrm>
                </p:grpSpPr>
                <p:grpSp>
                  <p:nvGrpSpPr>
                    <p:cNvPr id="816" name="Google Shape;816;p32"/>
                    <p:cNvGrpSpPr/>
                    <p:nvPr/>
                  </p:nvGrpSpPr>
                  <p:grpSpPr>
                    <a:xfrm>
                      <a:off x="1527464" y="938316"/>
                      <a:ext cx="1758761" cy="1728543"/>
                      <a:chOff x="1527464" y="938316"/>
                      <a:chExt cx="1758761" cy="1728543"/>
                    </a:xfrm>
                  </p:grpSpPr>
                  <p:sp>
                    <p:nvSpPr>
                      <p:cNvPr id="817" name="Google Shape;817;p32"/>
                      <p:cNvSpPr/>
                      <p:nvPr/>
                    </p:nvSpPr>
                    <p:spPr>
                      <a:xfrm>
                        <a:off x="1852953" y="2312768"/>
                        <a:ext cx="313627" cy="22568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8" name="Google Shape;818;p32"/>
                      <p:cNvSpPr/>
                      <p:nvPr/>
                    </p:nvSpPr>
                    <p:spPr>
                      <a:xfrm>
                        <a:off x="2571659" y="2312769"/>
                        <a:ext cx="313627" cy="22568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819" name="Google Shape;819;p32"/>
                      <p:cNvGrpSpPr/>
                      <p:nvPr/>
                    </p:nvGrpSpPr>
                    <p:grpSpPr>
                      <a:xfrm>
                        <a:off x="1527464" y="2016628"/>
                        <a:ext cx="1758761" cy="650231"/>
                        <a:chOff x="1916552" y="3349782"/>
                        <a:chExt cx="1758761" cy="650231"/>
                      </a:xfrm>
                    </p:grpSpPr>
                    <p:cxnSp>
                      <p:nvCxnSpPr>
                        <p:cNvPr id="820" name="Google Shape;820;p32"/>
                        <p:cNvCxnSpPr/>
                        <p:nvPr/>
                      </p:nvCxnSpPr>
                      <p:spPr>
                        <a:xfrm>
                          <a:off x="1943100" y="3349782"/>
                          <a:ext cx="311213" cy="0"/>
                        </a:xfrm>
                        <a:prstGeom prst="straightConnector1">
                          <a:avLst/>
                        </a:prstGeom>
                        <a:noFill/>
                        <a:ln w="9525" cap="flat" cmpd="sng">
                          <a:solidFill>
                            <a:schemeClr val="accent1"/>
                          </a:solidFill>
                          <a:prstDash val="solid"/>
                          <a:miter lim="800000"/>
                          <a:headEnd type="none" w="sm" len="sm"/>
                          <a:tailEnd type="none" w="sm" len="sm"/>
                        </a:ln>
                      </p:spPr>
                    </p:cxnSp>
                    <p:cxnSp>
                      <p:nvCxnSpPr>
                        <p:cNvPr id="821" name="Google Shape;821;p32"/>
                        <p:cNvCxnSpPr/>
                        <p:nvPr/>
                      </p:nvCxnSpPr>
                      <p:spPr>
                        <a:xfrm>
                          <a:off x="2567940" y="3349782"/>
                          <a:ext cx="387413" cy="0"/>
                        </a:xfrm>
                        <a:prstGeom prst="straightConnector1">
                          <a:avLst/>
                        </a:prstGeom>
                        <a:noFill/>
                        <a:ln w="9525" cap="flat" cmpd="sng">
                          <a:solidFill>
                            <a:schemeClr val="accent1"/>
                          </a:solidFill>
                          <a:prstDash val="solid"/>
                          <a:miter lim="800000"/>
                          <a:headEnd type="none" w="sm" len="sm"/>
                          <a:tailEnd type="none" w="sm" len="sm"/>
                        </a:ln>
                      </p:spPr>
                    </p:cxnSp>
                    <p:cxnSp>
                      <p:nvCxnSpPr>
                        <p:cNvPr id="822" name="Google Shape;822;p32"/>
                        <p:cNvCxnSpPr/>
                        <p:nvPr/>
                      </p:nvCxnSpPr>
                      <p:spPr>
                        <a:xfrm>
                          <a:off x="3268980" y="3349782"/>
                          <a:ext cx="406333" cy="0"/>
                        </a:xfrm>
                        <a:prstGeom prst="straightConnector1">
                          <a:avLst/>
                        </a:prstGeom>
                        <a:noFill/>
                        <a:ln w="9525" cap="flat" cmpd="sng">
                          <a:solidFill>
                            <a:schemeClr val="accent1"/>
                          </a:solidFill>
                          <a:prstDash val="solid"/>
                          <a:miter lim="800000"/>
                          <a:headEnd type="none" w="sm" len="sm"/>
                          <a:tailEnd type="none" w="sm" len="sm"/>
                        </a:ln>
                      </p:spPr>
                    </p:cxnSp>
                    <p:sp>
                      <p:nvSpPr>
                        <p:cNvPr id="823" name="Google Shape;823;p32"/>
                        <p:cNvSpPr/>
                        <p:nvPr/>
                      </p:nvSpPr>
                      <p:spPr>
                        <a:xfrm>
                          <a:off x="1916552" y="3879390"/>
                          <a:ext cx="1758761" cy="120623"/>
                        </a:xfrm>
                        <a:prstGeom prst="rect">
                          <a:avLst/>
                        </a:prstGeom>
                        <a:solidFill>
                          <a:srgbClr val="2E75B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C0C0C"/>
                              </a:solidFill>
                              <a:latin typeface="Calibri"/>
                              <a:ea typeface="Calibri"/>
                              <a:cs typeface="Calibri"/>
                              <a:sym typeface="Calibri"/>
                            </a:rPr>
                            <a:t>Oxide</a:t>
                          </a:r>
                          <a:endParaRPr sz="800" b="0" i="0" u="none" strike="noStrike" cap="none">
                            <a:solidFill>
                              <a:srgbClr val="0C0C0C"/>
                            </a:solidFill>
                            <a:latin typeface="Calibri"/>
                            <a:ea typeface="Calibri"/>
                            <a:cs typeface="Calibri"/>
                            <a:sym typeface="Calibri"/>
                          </a:endParaRPr>
                        </a:p>
                      </p:txBody>
                    </p:sp>
                  </p:grpSp>
                  <p:sp>
                    <p:nvSpPr>
                      <p:cNvPr id="824" name="Google Shape;824;p32"/>
                      <p:cNvSpPr/>
                      <p:nvPr/>
                    </p:nvSpPr>
                    <p:spPr>
                      <a:xfrm>
                        <a:off x="1527464" y="2312770"/>
                        <a:ext cx="329492" cy="225681"/>
                      </a:xfrm>
                      <a:prstGeom prst="rect">
                        <a:avLst/>
                      </a:prstGeom>
                      <a:solidFill>
                        <a:srgbClr val="BBD6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5" name="Google Shape;825;p32"/>
                      <p:cNvSpPr/>
                      <p:nvPr/>
                    </p:nvSpPr>
                    <p:spPr>
                      <a:xfrm>
                        <a:off x="2170583" y="2312771"/>
                        <a:ext cx="395682" cy="225681"/>
                      </a:xfrm>
                      <a:prstGeom prst="rect">
                        <a:avLst/>
                      </a:prstGeom>
                      <a:solidFill>
                        <a:srgbClr val="BBD6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826" name="Google Shape;826;p32"/>
                      <p:cNvGrpSpPr/>
                      <p:nvPr/>
                    </p:nvGrpSpPr>
                    <p:grpSpPr>
                      <a:xfrm>
                        <a:off x="1936580" y="1366823"/>
                        <a:ext cx="133350" cy="492282"/>
                        <a:chOff x="2488404" y="3685066"/>
                        <a:chExt cx="133350" cy="492282"/>
                      </a:xfrm>
                    </p:grpSpPr>
                    <p:cxnSp>
                      <p:nvCxnSpPr>
                        <p:cNvPr id="827" name="Google Shape;827;p32"/>
                        <p:cNvCxnSpPr/>
                        <p:nvPr/>
                      </p:nvCxnSpPr>
                      <p:spPr>
                        <a:xfrm>
                          <a:off x="2488404" y="3685066"/>
                          <a:ext cx="0" cy="492282"/>
                        </a:xfrm>
                        <a:prstGeom prst="straightConnector1">
                          <a:avLst/>
                        </a:prstGeom>
                        <a:noFill/>
                        <a:ln w="9525" cap="flat" cmpd="sng">
                          <a:solidFill>
                            <a:schemeClr val="accent1"/>
                          </a:solidFill>
                          <a:prstDash val="solid"/>
                          <a:miter lim="800000"/>
                          <a:headEnd type="none" w="sm" len="sm"/>
                          <a:tailEnd type="stealth" w="med" len="med"/>
                        </a:ln>
                      </p:spPr>
                    </p:cxnSp>
                    <p:cxnSp>
                      <p:nvCxnSpPr>
                        <p:cNvPr id="828" name="Google Shape;828;p32"/>
                        <p:cNvCxnSpPr/>
                        <p:nvPr/>
                      </p:nvCxnSpPr>
                      <p:spPr>
                        <a:xfrm>
                          <a:off x="2621754" y="3685066"/>
                          <a:ext cx="0" cy="492282"/>
                        </a:xfrm>
                        <a:prstGeom prst="straightConnector1">
                          <a:avLst/>
                        </a:prstGeom>
                        <a:noFill/>
                        <a:ln w="9525" cap="flat" cmpd="sng">
                          <a:solidFill>
                            <a:schemeClr val="accent1"/>
                          </a:solidFill>
                          <a:prstDash val="solid"/>
                          <a:miter lim="800000"/>
                          <a:headEnd type="none" w="sm" len="sm"/>
                          <a:tailEnd type="stealth" w="med" len="med"/>
                        </a:ln>
                      </p:spPr>
                    </p:cxnSp>
                  </p:grpSp>
                  <p:grpSp>
                    <p:nvGrpSpPr>
                      <p:cNvPr id="829" name="Google Shape;829;p32"/>
                      <p:cNvGrpSpPr/>
                      <p:nvPr/>
                    </p:nvGrpSpPr>
                    <p:grpSpPr>
                      <a:xfrm>
                        <a:off x="2673148" y="1341848"/>
                        <a:ext cx="133350" cy="492282"/>
                        <a:chOff x="2488404" y="3685066"/>
                        <a:chExt cx="133350" cy="492282"/>
                      </a:xfrm>
                    </p:grpSpPr>
                    <p:cxnSp>
                      <p:nvCxnSpPr>
                        <p:cNvPr id="830" name="Google Shape;830;p32"/>
                        <p:cNvCxnSpPr/>
                        <p:nvPr/>
                      </p:nvCxnSpPr>
                      <p:spPr>
                        <a:xfrm>
                          <a:off x="2488404" y="3685066"/>
                          <a:ext cx="0" cy="492282"/>
                        </a:xfrm>
                        <a:prstGeom prst="straightConnector1">
                          <a:avLst/>
                        </a:prstGeom>
                        <a:noFill/>
                        <a:ln w="9525" cap="flat" cmpd="sng">
                          <a:solidFill>
                            <a:schemeClr val="accent1"/>
                          </a:solidFill>
                          <a:prstDash val="solid"/>
                          <a:miter lim="800000"/>
                          <a:headEnd type="none" w="sm" len="sm"/>
                          <a:tailEnd type="stealth" w="med" len="med"/>
                        </a:ln>
                      </p:spPr>
                    </p:cxnSp>
                    <p:cxnSp>
                      <p:nvCxnSpPr>
                        <p:cNvPr id="831" name="Google Shape;831;p32"/>
                        <p:cNvCxnSpPr/>
                        <p:nvPr/>
                      </p:nvCxnSpPr>
                      <p:spPr>
                        <a:xfrm>
                          <a:off x="2621754" y="3685066"/>
                          <a:ext cx="0" cy="492282"/>
                        </a:xfrm>
                        <a:prstGeom prst="straightConnector1">
                          <a:avLst/>
                        </a:prstGeom>
                        <a:noFill/>
                        <a:ln w="9525" cap="flat" cmpd="sng">
                          <a:solidFill>
                            <a:schemeClr val="accent1"/>
                          </a:solidFill>
                          <a:prstDash val="solid"/>
                          <a:miter lim="800000"/>
                          <a:headEnd type="none" w="sm" len="sm"/>
                          <a:tailEnd type="stealth" w="med" len="med"/>
                        </a:ln>
                      </p:spPr>
                    </p:cxnSp>
                  </p:grpSp>
                  <p:sp>
                    <p:nvSpPr>
                      <p:cNvPr id="832" name="Google Shape;832;p32"/>
                      <p:cNvSpPr txBox="1"/>
                      <p:nvPr/>
                    </p:nvSpPr>
                    <p:spPr>
                      <a:xfrm>
                        <a:off x="1826383" y="938316"/>
                        <a:ext cx="107868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UV Light</a:t>
                        </a:r>
                        <a:endParaRPr sz="1800" b="0" i="0" u="none" strike="noStrike" cap="none">
                          <a:solidFill>
                            <a:schemeClr val="dk1"/>
                          </a:solidFill>
                          <a:latin typeface="Calibri"/>
                          <a:ea typeface="Calibri"/>
                          <a:cs typeface="Calibri"/>
                          <a:sym typeface="Calibri"/>
                        </a:endParaRPr>
                      </a:p>
                    </p:txBody>
                  </p:sp>
                </p:grpSp>
                <p:sp>
                  <p:nvSpPr>
                    <p:cNvPr id="833" name="Google Shape;833;p32"/>
                    <p:cNvSpPr/>
                    <p:nvPr/>
                  </p:nvSpPr>
                  <p:spPr>
                    <a:xfrm>
                      <a:off x="1525741" y="2666859"/>
                      <a:ext cx="1758761" cy="120623"/>
                    </a:xfrm>
                    <a:prstGeom prst="rect">
                      <a:avLst/>
                    </a:prstGeom>
                    <a:solidFill>
                      <a:srgbClr val="D8D8D8"/>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C0C0C"/>
                          </a:solidFill>
                          <a:latin typeface="Calibri"/>
                          <a:ea typeface="Calibri"/>
                          <a:cs typeface="Calibri"/>
                          <a:sym typeface="Calibri"/>
                        </a:rPr>
                        <a:t>Substrate</a:t>
                      </a:r>
                      <a:endParaRPr sz="800" b="0" i="0" u="none" strike="noStrike" cap="none">
                        <a:solidFill>
                          <a:srgbClr val="0C0C0C"/>
                        </a:solidFill>
                        <a:latin typeface="Calibri"/>
                        <a:ea typeface="Calibri"/>
                        <a:cs typeface="Calibri"/>
                        <a:sym typeface="Calibri"/>
                      </a:endParaRPr>
                    </a:p>
                  </p:txBody>
                </p:sp>
              </p:grpSp>
            </p:grpSp>
            <p:sp>
              <p:nvSpPr>
                <p:cNvPr id="834" name="Google Shape;834;p32"/>
                <p:cNvSpPr txBox="1"/>
                <p:nvPr/>
              </p:nvSpPr>
              <p:spPr>
                <a:xfrm>
                  <a:off x="2061963" y="2356807"/>
                  <a:ext cx="700804"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Calibri"/>
                      <a:ea typeface="Calibri"/>
                      <a:cs typeface="Calibri"/>
                      <a:sym typeface="Calibri"/>
                    </a:rPr>
                    <a:t>Positive Photoresist</a:t>
                  </a:r>
                  <a:endParaRPr sz="800" b="0" i="0" u="none" strike="noStrike" cap="none">
                    <a:solidFill>
                      <a:schemeClr val="dk1"/>
                    </a:solidFill>
                    <a:latin typeface="Calibri"/>
                    <a:ea typeface="Calibri"/>
                    <a:cs typeface="Calibri"/>
                    <a:sym typeface="Calibri"/>
                  </a:endParaRPr>
                </a:p>
              </p:txBody>
            </p:sp>
            <p:sp>
              <p:nvSpPr>
                <p:cNvPr id="835" name="Google Shape;835;p32"/>
                <p:cNvSpPr/>
                <p:nvPr/>
              </p:nvSpPr>
              <p:spPr>
                <a:xfrm>
                  <a:off x="4069622" y="3941131"/>
                  <a:ext cx="420537" cy="225681"/>
                </a:xfrm>
                <a:prstGeom prst="rect">
                  <a:avLst/>
                </a:prstGeom>
                <a:solidFill>
                  <a:srgbClr val="BBD6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36" name="Google Shape;836;p32"/>
                <p:cNvSpPr/>
                <p:nvPr/>
              </p:nvSpPr>
              <p:spPr>
                <a:xfrm>
                  <a:off x="2731066" y="4171397"/>
                  <a:ext cx="329492" cy="128408"/>
                </a:xfrm>
                <a:prstGeom prst="rect">
                  <a:avLst/>
                </a:prstGeom>
                <a:solidFill>
                  <a:srgbClr val="2E75B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rgbClr val="0C0C0C"/>
                    </a:solidFill>
                    <a:latin typeface="Calibri"/>
                    <a:ea typeface="Calibri"/>
                    <a:cs typeface="Calibri"/>
                    <a:sym typeface="Calibri"/>
                  </a:endParaRPr>
                </a:p>
              </p:txBody>
            </p:sp>
            <p:sp>
              <p:nvSpPr>
                <p:cNvPr id="837" name="Google Shape;837;p32"/>
                <p:cNvSpPr/>
                <p:nvPr/>
              </p:nvSpPr>
              <p:spPr>
                <a:xfrm>
                  <a:off x="2731065" y="3945716"/>
                  <a:ext cx="329492" cy="225681"/>
                </a:xfrm>
                <a:prstGeom prst="rect">
                  <a:avLst/>
                </a:prstGeom>
                <a:solidFill>
                  <a:srgbClr val="BBD6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38" name="Google Shape;838;p32"/>
                <p:cNvSpPr/>
                <p:nvPr/>
              </p:nvSpPr>
              <p:spPr>
                <a:xfrm>
                  <a:off x="3379816" y="3945717"/>
                  <a:ext cx="403302" cy="225681"/>
                </a:xfrm>
                <a:prstGeom prst="rect">
                  <a:avLst/>
                </a:prstGeom>
                <a:solidFill>
                  <a:srgbClr val="BBD6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39" name="Google Shape;839;p32"/>
                <p:cNvSpPr/>
                <p:nvPr/>
              </p:nvSpPr>
              <p:spPr>
                <a:xfrm>
                  <a:off x="2729342" y="4299805"/>
                  <a:ext cx="1758761" cy="120623"/>
                </a:xfrm>
                <a:prstGeom prst="rect">
                  <a:avLst/>
                </a:prstGeom>
                <a:solidFill>
                  <a:srgbClr val="D8D8D8"/>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C0C0C"/>
                      </a:solidFill>
                      <a:latin typeface="Calibri"/>
                      <a:ea typeface="Calibri"/>
                      <a:cs typeface="Calibri"/>
                      <a:sym typeface="Calibri"/>
                    </a:rPr>
                    <a:t>Substrate</a:t>
                  </a:r>
                  <a:endParaRPr sz="800" b="0" i="0" u="none" strike="noStrike" cap="none">
                    <a:solidFill>
                      <a:srgbClr val="0C0C0C"/>
                    </a:solidFill>
                    <a:latin typeface="Calibri"/>
                    <a:ea typeface="Calibri"/>
                    <a:cs typeface="Calibri"/>
                    <a:sym typeface="Calibri"/>
                  </a:endParaRPr>
                </a:p>
              </p:txBody>
            </p:sp>
            <p:sp>
              <p:nvSpPr>
                <p:cNvPr id="840" name="Google Shape;840;p32"/>
                <p:cNvSpPr/>
                <p:nvPr/>
              </p:nvSpPr>
              <p:spPr>
                <a:xfrm>
                  <a:off x="3381804" y="4171397"/>
                  <a:ext cx="395682" cy="128408"/>
                </a:xfrm>
                <a:prstGeom prst="rect">
                  <a:avLst/>
                </a:prstGeom>
                <a:solidFill>
                  <a:srgbClr val="2E75B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rgbClr val="0C0C0C"/>
                    </a:solidFill>
                    <a:latin typeface="Calibri"/>
                    <a:ea typeface="Calibri"/>
                    <a:cs typeface="Calibri"/>
                    <a:sym typeface="Calibri"/>
                  </a:endParaRPr>
                </a:p>
              </p:txBody>
            </p:sp>
            <p:sp>
              <p:nvSpPr>
                <p:cNvPr id="841" name="Google Shape;841;p32"/>
                <p:cNvSpPr/>
                <p:nvPr/>
              </p:nvSpPr>
              <p:spPr>
                <a:xfrm>
                  <a:off x="4078303" y="4176430"/>
                  <a:ext cx="409799" cy="123375"/>
                </a:xfrm>
                <a:prstGeom prst="rect">
                  <a:avLst/>
                </a:prstGeom>
                <a:solidFill>
                  <a:srgbClr val="2E75B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rgbClr val="0C0C0C"/>
                    </a:solidFill>
                    <a:latin typeface="Calibri"/>
                    <a:ea typeface="Calibri"/>
                    <a:cs typeface="Calibri"/>
                    <a:sym typeface="Calibri"/>
                  </a:endParaRPr>
                </a:p>
              </p:txBody>
            </p:sp>
            <p:grpSp>
              <p:nvGrpSpPr>
                <p:cNvPr id="842" name="Google Shape;842;p32"/>
                <p:cNvGrpSpPr/>
                <p:nvPr/>
              </p:nvGrpSpPr>
              <p:grpSpPr>
                <a:xfrm>
                  <a:off x="2722342" y="4887947"/>
                  <a:ext cx="1758761" cy="249031"/>
                  <a:chOff x="2722342" y="4887947"/>
                  <a:chExt cx="1758761" cy="249031"/>
                </a:xfrm>
              </p:grpSpPr>
              <p:sp>
                <p:nvSpPr>
                  <p:cNvPr id="843" name="Google Shape;843;p32"/>
                  <p:cNvSpPr/>
                  <p:nvPr/>
                </p:nvSpPr>
                <p:spPr>
                  <a:xfrm>
                    <a:off x="2724066" y="4887947"/>
                    <a:ext cx="329492" cy="128408"/>
                  </a:xfrm>
                  <a:prstGeom prst="rect">
                    <a:avLst/>
                  </a:prstGeom>
                  <a:solidFill>
                    <a:srgbClr val="2E75B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rgbClr val="0C0C0C"/>
                      </a:solidFill>
                      <a:latin typeface="Calibri"/>
                      <a:ea typeface="Calibri"/>
                      <a:cs typeface="Calibri"/>
                      <a:sym typeface="Calibri"/>
                    </a:endParaRPr>
                  </a:p>
                </p:txBody>
              </p:sp>
              <p:sp>
                <p:nvSpPr>
                  <p:cNvPr id="844" name="Google Shape;844;p32"/>
                  <p:cNvSpPr/>
                  <p:nvPr/>
                </p:nvSpPr>
                <p:spPr>
                  <a:xfrm>
                    <a:off x="2722342" y="5016355"/>
                    <a:ext cx="1758761" cy="120623"/>
                  </a:xfrm>
                  <a:prstGeom prst="rect">
                    <a:avLst/>
                  </a:prstGeom>
                  <a:solidFill>
                    <a:srgbClr val="D8D8D8"/>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C0C0C"/>
                        </a:solidFill>
                        <a:latin typeface="Calibri"/>
                        <a:ea typeface="Calibri"/>
                        <a:cs typeface="Calibri"/>
                        <a:sym typeface="Calibri"/>
                      </a:rPr>
                      <a:t>Substrate</a:t>
                    </a:r>
                    <a:endParaRPr sz="800" b="0" i="0" u="none" strike="noStrike" cap="none">
                      <a:solidFill>
                        <a:srgbClr val="0C0C0C"/>
                      </a:solidFill>
                      <a:latin typeface="Calibri"/>
                      <a:ea typeface="Calibri"/>
                      <a:cs typeface="Calibri"/>
                      <a:sym typeface="Calibri"/>
                    </a:endParaRPr>
                  </a:p>
                </p:txBody>
              </p:sp>
              <p:sp>
                <p:nvSpPr>
                  <p:cNvPr id="845" name="Google Shape;845;p32"/>
                  <p:cNvSpPr/>
                  <p:nvPr/>
                </p:nvSpPr>
                <p:spPr>
                  <a:xfrm>
                    <a:off x="3374804" y="4887947"/>
                    <a:ext cx="395682" cy="128408"/>
                  </a:xfrm>
                  <a:prstGeom prst="rect">
                    <a:avLst/>
                  </a:prstGeom>
                  <a:solidFill>
                    <a:srgbClr val="2E75B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rgbClr val="0C0C0C"/>
                      </a:solidFill>
                      <a:latin typeface="Calibri"/>
                      <a:ea typeface="Calibri"/>
                      <a:cs typeface="Calibri"/>
                      <a:sym typeface="Calibri"/>
                    </a:endParaRPr>
                  </a:p>
                </p:txBody>
              </p:sp>
              <p:sp>
                <p:nvSpPr>
                  <p:cNvPr id="846" name="Google Shape;846;p32"/>
                  <p:cNvSpPr/>
                  <p:nvPr/>
                </p:nvSpPr>
                <p:spPr>
                  <a:xfrm>
                    <a:off x="4071303" y="4892980"/>
                    <a:ext cx="409799" cy="123375"/>
                  </a:xfrm>
                  <a:prstGeom prst="rect">
                    <a:avLst/>
                  </a:prstGeom>
                  <a:solidFill>
                    <a:srgbClr val="2E75B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rgbClr val="0C0C0C"/>
                      </a:solidFill>
                      <a:latin typeface="Calibri"/>
                      <a:ea typeface="Calibri"/>
                      <a:cs typeface="Calibri"/>
                      <a:sym typeface="Calibri"/>
                    </a:endParaRPr>
                  </a:p>
                </p:txBody>
              </p:sp>
            </p:grpSp>
          </p:grpSp>
          <p:sp>
            <p:nvSpPr>
              <p:cNvPr id="847" name="Google Shape;847;p32"/>
              <p:cNvSpPr txBox="1"/>
              <p:nvPr/>
            </p:nvSpPr>
            <p:spPr>
              <a:xfrm>
                <a:off x="531588" y="4713990"/>
                <a:ext cx="153037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Resist Strip</a:t>
                </a:r>
                <a:endParaRPr sz="2000" b="0" i="0" u="none" strike="noStrike" cap="none">
                  <a:solidFill>
                    <a:schemeClr val="dk1"/>
                  </a:solidFill>
                  <a:latin typeface="Arial"/>
                  <a:ea typeface="Arial"/>
                  <a:cs typeface="Arial"/>
                  <a:sym typeface="Arial"/>
                </a:endParaRPr>
              </a:p>
            </p:txBody>
          </p:sp>
          <p:grpSp>
            <p:nvGrpSpPr>
              <p:cNvPr id="848" name="Google Shape;848;p32"/>
              <p:cNvGrpSpPr/>
              <p:nvPr/>
            </p:nvGrpSpPr>
            <p:grpSpPr>
              <a:xfrm>
                <a:off x="5009021" y="936452"/>
                <a:ext cx="2496001" cy="4194640"/>
                <a:chOff x="5009021" y="936452"/>
                <a:chExt cx="2496001" cy="4194640"/>
              </a:xfrm>
            </p:grpSpPr>
            <p:grpSp>
              <p:nvGrpSpPr>
                <p:cNvPr id="849" name="Google Shape;849;p32"/>
                <p:cNvGrpSpPr/>
                <p:nvPr/>
              </p:nvGrpSpPr>
              <p:grpSpPr>
                <a:xfrm>
                  <a:off x="5009021" y="936452"/>
                  <a:ext cx="2458658" cy="1845305"/>
                  <a:chOff x="4750979" y="936452"/>
                  <a:chExt cx="2458658" cy="1845305"/>
                </a:xfrm>
              </p:grpSpPr>
              <p:grpSp>
                <p:nvGrpSpPr>
                  <p:cNvPr id="850" name="Google Shape;850;p32"/>
                  <p:cNvGrpSpPr/>
                  <p:nvPr/>
                </p:nvGrpSpPr>
                <p:grpSpPr>
                  <a:xfrm>
                    <a:off x="5443799" y="936452"/>
                    <a:ext cx="1765838" cy="1845305"/>
                    <a:chOff x="5443799" y="936452"/>
                    <a:chExt cx="1765838" cy="1845305"/>
                  </a:xfrm>
                </p:grpSpPr>
                <p:sp>
                  <p:nvSpPr>
                    <p:cNvPr id="851" name="Google Shape;851;p32"/>
                    <p:cNvSpPr txBox="1"/>
                    <p:nvPr/>
                  </p:nvSpPr>
                  <p:spPr>
                    <a:xfrm>
                      <a:off x="5724618" y="936452"/>
                      <a:ext cx="127645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UV Light</a:t>
                      </a:r>
                      <a:endParaRPr sz="1800" b="0" i="0" u="none" strike="noStrike" cap="none">
                        <a:solidFill>
                          <a:schemeClr val="dk1"/>
                        </a:solidFill>
                        <a:latin typeface="Calibri"/>
                        <a:ea typeface="Calibri"/>
                        <a:cs typeface="Calibri"/>
                        <a:sym typeface="Calibri"/>
                      </a:endParaRPr>
                    </a:p>
                  </p:txBody>
                </p:sp>
                <p:sp>
                  <p:nvSpPr>
                    <p:cNvPr id="852" name="Google Shape;852;p32"/>
                    <p:cNvSpPr/>
                    <p:nvPr/>
                  </p:nvSpPr>
                  <p:spPr>
                    <a:xfrm>
                      <a:off x="5770971" y="2307184"/>
                      <a:ext cx="313627" cy="22568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53" name="Google Shape;853;p32"/>
                    <p:cNvSpPr/>
                    <p:nvPr/>
                  </p:nvSpPr>
                  <p:spPr>
                    <a:xfrm>
                      <a:off x="6489677" y="2307185"/>
                      <a:ext cx="313627" cy="22568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854" name="Google Shape;854;p32"/>
                    <p:cNvCxnSpPr/>
                    <p:nvPr/>
                  </p:nvCxnSpPr>
                  <p:spPr>
                    <a:xfrm>
                      <a:off x="5472030" y="2011044"/>
                      <a:ext cx="311213" cy="0"/>
                    </a:xfrm>
                    <a:prstGeom prst="straightConnector1">
                      <a:avLst/>
                    </a:prstGeom>
                    <a:noFill/>
                    <a:ln w="9525" cap="flat" cmpd="sng">
                      <a:solidFill>
                        <a:schemeClr val="accent1"/>
                      </a:solidFill>
                      <a:prstDash val="solid"/>
                      <a:miter lim="800000"/>
                      <a:headEnd type="none" w="sm" len="sm"/>
                      <a:tailEnd type="none" w="sm" len="sm"/>
                    </a:ln>
                  </p:spPr>
                </p:cxnSp>
                <p:cxnSp>
                  <p:nvCxnSpPr>
                    <p:cNvPr id="855" name="Google Shape;855;p32"/>
                    <p:cNvCxnSpPr/>
                    <p:nvPr/>
                  </p:nvCxnSpPr>
                  <p:spPr>
                    <a:xfrm>
                      <a:off x="6096870" y="2011044"/>
                      <a:ext cx="387413" cy="0"/>
                    </a:xfrm>
                    <a:prstGeom prst="straightConnector1">
                      <a:avLst/>
                    </a:prstGeom>
                    <a:noFill/>
                    <a:ln w="9525" cap="flat" cmpd="sng">
                      <a:solidFill>
                        <a:schemeClr val="accent1"/>
                      </a:solidFill>
                      <a:prstDash val="solid"/>
                      <a:miter lim="800000"/>
                      <a:headEnd type="none" w="sm" len="sm"/>
                      <a:tailEnd type="none" w="sm" len="sm"/>
                    </a:ln>
                  </p:spPr>
                </p:cxnSp>
                <p:cxnSp>
                  <p:nvCxnSpPr>
                    <p:cNvPr id="856" name="Google Shape;856;p32"/>
                    <p:cNvCxnSpPr/>
                    <p:nvPr/>
                  </p:nvCxnSpPr>
                  <p:spPr>
                    <a:xfrm>
                      <a:off x="6797910" y="2011044"/>
                      <a:ext cx="406333" cy="0"/>
                    </a:xfrm>
                    <a:prstGeom prst="straightConnector1">
                      <a:avLst/>
                    </a:prstGeom>
                    <a:noFill/>
                    <a:ln w="9525" cap="flat" cmpd="sng">
                      <a:solidFill>
                        <a:schemeClr val="accent1"/>
                      </a:solidFill>
                      <a:prstDash val="solid"/>
                      <a:miter lim="800000"/>
                      <a:headEnd type="none" w="sm" len="sm"/>
                      <a:tailEnd type="none" w="sm" len="sm"/>
                    </a:ln>
                  </p:spPr>
                </p:cxnSp>
                <p:sp>
                  <p:nvSpPr>
                    <p:cNvPr id="857" name="Google Shape;857;p32"/>
                    <p:cNvSpPr/>
                    <p:nvPr/>
                  </p:nvSpPr>
                  <p:spPr>
                    <a:xfrm>
                      <a:off x="5443799" y="2661134"/>
                      <a:ext cx="1758761" cy="120623"/>
                    </a:xfrm>
                    <a:prstGeom prst="rect">
                      <a:avLst/>
                    </a:prstGeom>
                    <a:solidFill>
                      <a:srgbClr val="D8D8D8"/>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C0C0C"/>
                          </a:solidFill>
                          <a:latin typeface="Calibri"/>
                          <a:ea typeface="Calibri"/>
                          <a:cs typeface="Calibri"/>
                          <a:sym typeface="Calibri"/>
                        </a:rPr>
                        <a:t>Substrate</a:t>
                      </a:r>
                      <a:endParaRPr sz="800" b="0" i="0" u="none" strike="noStrike" cap="none">
                        <a:solidFill>
                          <a:srgbClr val="0C0C0C"/>
                        </a:solidFill>
                        <a:latin typeface="Calibri"/>
                        <a:ea typeface="Calibri"/>
                        <a:cs typeface="Calibri"/>
                        <a:sym typeface="Calibri"/>
                      </a:endParaRPr>
                    </a:p>
                  </p:txBody>
                </p:sp>
                <p:sp>
                  <p:nvSpPr>
                    <p:cNvPr id="858" name="Google Shape;858;p32"/>
                    <p:cNvSpPr/>
                    <p:nvPr/>
                  </p:nvSpPr>
                  <p:spPr>
                    <a:xfrm>
                      <a:off x="5445482" y="2307186"/>
                      <a:ext cx="329492" cy="225681"/>
                    </a:xfrm>
                    <a:prstGeom prst="rect">
                      <a:avLst/>
                    </a:prstGeom>
                    <a:solidFill>
                      <a:srgbClr val="FFD96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59" name="Google Shape;859;p32"/>
                    <p:cNvSpPr/>
                    <p:nvPr/>
                  </p:nvSpPr>
                  <p:spPr>
                    <a:xfrm>
                      <a:off x="6088601" y="2307187"/>
                      <a:ext cx="395682" cy="225681"/>
                    </a:xfrm>
                    <a:prstGeom prst="rect">
                      <a:avLst/>
                    </a:prstGeom>
                    <a:solidFill>
                      <a:srgbClr val="FFD96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60" name="Google Shape;860;p32"/>
                    <p:cNvSpPr/>
                    <p:nvPr/>
                  </p:nvSpPr>
                  <p:spPr>
                    <a:xfrm>
                      <a:off x="6803304" y="2307188"/>
                      <a:ext cx="406333" cy="225681"/>
                    </a:xfrm>
                    <a:prstGeom prst="rect">
                      <a:avLst/>
                    </a:prstGeom>
                    <a:solidFill>
                      <a:srgbClr val="FFD96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861" name="Google Shape;861;p32"/>
                    <p:cNvGrpSpPr/>
                    <p:nvPr/>
                  </p:nvGrpSpPr>
                  <p:grpSpPr>
                    <a:xfrm>
                      <a:off x="5854598" y="1361239"/>
                      <a:ext cx="133350" cy="492282"/>
                      <a:chOff x="2488404" y="3685066"/>
                      <a:chExt cx="133350" cy="492282"/>
                    </a:xfrm>
                  </p:grpSpPr>
                  <p:cxnSp>
                    <p:nvCxnSpPr>
                      <p:cNvPr id="862" name="Google Shape;862;p32"/>
                      <p:cNvCxnSpPr/>
                      <p:nvPr/>
                    </p:nvCxnSpPr>
                    <p:spPr>
                      <a:xfrm>
                        <a:off x="2488404" y="3685066"/>
                        <a:ext cx="0" cy="492282"/>
                      </a:xfrm>
                      <a:prstGeom prst="straightConnector1">
                        <a:avLst/>
                      </a:prstGeom>
                      <a:noFill/>
                      <a:ln w="9525" cap="flat" cmpd="sng">
                        <a:solidFill>
                          <a:schemeClr val="accent1"/>
                        </a:solidFill>
                        <a:prstDash val="solid"/>
                        <a:miter lim="800000"/>
                        <a:headEnd type="none" w="sm" len="sm"/>
                        <a:tailEnd type="stealth" w="med" len="med"/>
                      </a:ln>
                    </p:spPr>
                  </p:cxnSp>
                  <p:cxnSp>
                    <p:nvCxnSpPr>
                      <p:cNvPr id="863" name="Google Shape;863;p32"/>
                      <p:cNvCxnSpPr/>
                      <p:nvPr/>
                    </p:nvCxnSpPr>
                    <p:spPr>
                      <a:xfrm>
                        <a:off x="2621754" y="3685066"/>
                        <a:ext cx="0" cy="492282"/>
                      </a:xfrm>
                      <a:prstGeom prst="straightConnector1">
                        <a:avLst/>
                      </a:prstGeom>
                      <a:noFill/>
                      <a:ln w="9525" cap="flat" cmpd="sng">
                        <a:solidFill>
                          <a:schemeClr val="accent1"/>
                        </a:solidFill>
                        <a:prstDash val="solid"/>
                        <a:miter lim="800000"/>
                        <a:headEnd type="none" w="sm" len="sm"/>
                        <a:tailEnd type="stealth" w="med" len="med"/>
                      </a:ln>
                    </p:spPr>
                  </p:cxnSp>
                </p:grpSp>
                <p:grpSp>
                  <p:nvGrpSpPr>
                    <p:cNvPr id="864" name="Google Shape;864;p32"/>
                    <p:cNvGrpSpPr/>
                    <p:nvPr/>
                  </p:nvGrpSpPr>
                  <p:grpSpPr>
                    <a:xfrm>
                      <a:off x="6591166" y="1336264"/>
                      <a:ext cx="133350" cy="492282"/>
                      <a:chOff x="2488404" y="3685066"/>
                      <a:chExt cx="133350" cy="492282"/>
                    </a:xfrm>
                  </p:grpSpPr>
                  <p:cxnSp>
                    <p:nvCxnSpPr>
                      <p:cNvPr id="865" name="Google Shape;865;p32"/>
                      <p:cNvCxnSpPr/>
                      <p:nvPr/>
                    </p:nvCxnSpPr>
                    <p:spPr>
                      <a:xfrm>
                        <a:off x="2488404" y="3685066"/>
                        <a:ext cx="0" cy="492282"/>
                      </a:xfrm>
                      <a:prstGeom prst="straightConnector1">
                        <a:avLst/>
                      </a:prstGeom>
                      <a:noFill/>
                      <a:ln w="9525" cap="flat" cmpd="sng">
                        <a:solidFill>
                          <a:schemeClr val="accent1"/>
                        </a:solidFill>
                        <a:prstDash val="solid"/>
                        <a:miter lim="800000"/>
                        <a:headEnd type="none" w="sm" len="sm"/>
                        <a:tailEnd type="stealth" w="med" len="med"/>
                      </a:ln>
                    </p:spPr>
                  </p:cxnSp>
                  <p:cxnSp>
                    <p:nvCxnSpPr>
                      <p:cNvPr id="866" name="Google Shape;866;p32"/>
                      <p:cNvCxnSpPr/>
                      <p:nvPr/>
                    </p:nvCxnSpPr>
                    <p:spPr>
                      <a:xfrm>
                        <a:off x="2621754" y="3685066"/>
                        <a:ext cx="0" cy="492282"/>
                      </a:xfrm>
                      <a:prstGeom prst="straightConnector1">
                        <a:avLst/>
                      </a:prstGeom>
                      <a:noFill/>
                      <a:ln w="9525" cap="flat" cmpd="sng">
                        <a:solidFill>
                          <a:schemeClr val="accent1"/>
                        </a:solidFill>
                        <a:prstDash val="solid"/>
                        <a:miter lim="800000"/>
                        <a:headEnd type="none" w="sm" len="sm"/>
                        <a:tailEnd type="stealth" w="med" len="med"/>
                      </a:ln>
                    </p:spPr>
                  </p:cxnSp>
                </p:grpSp>
                <p:sp>
                  <p:nvSpPr>
                    <p:cNvPr id="867" name="Google Shape;867;p32"/>
                    <p:cNvSpPr/>
                    <p:nvPr/>
                  </p:nvSpPr>
                  <p:spPr>
                    <a:xfrm>
                      <a:off x="5445482" y="2540511"/>
                      <a:ext cx="1758761" cy="120623"/>
                    </a:xfrm>
                    <a:prstGeom prst="rect">
                      <a:avLst/>
                    </a:prstGeom>
                    <a:solidFill>
                      <a:srgbClr val="2E75B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C0C0C"/>
                          </a:solidFill>
                          <a:latin typeface="Calibri"/>
                          <a:ea typeface="Calibri"/>
                          <a:cs typeface="Calibri"/>
                          <a:sym typeface="Calibri"/>
                        </a:rPr>
                        <a:t>Oxide</a:t>
                      </a:r>
                      <a:endParaRPr sz="800" b="0" i="0" u="none" strike="noStrike" cap="none">
                        <a:solidFill>
                          <a:srgbClr val="0C0C0C"/>
                        </a:solidFill>
                        <a:latin typeface="Calibri"/>
                        <a:ea typeface="Calibri"/>
                        <a:cs typeface="Calibri"/>
                        <a:sym typeface="Calibri"/>
                      </a:endParaRPr>
                    </a:p>
                  </p:txBody>
                </p:sp>
              </p:grpSp>
              <p:sp>
                <p:nvSpPr>
                  <p:cNvPr id="868" name="Google Shape;868;p32"/>
                  <p:cNvSpPr txBox="1"/>
                  <p:nvPr/>
                </p:nvSpPr>
                <p:spPr>
                  <a:xfrm>
                    <a:off x="4750979" y="2300370"/>
                    <a:ext cx="700804"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Calibri"/>
                        <a:ea typeface="Calibri"/>
                        <a:cs typeface="Calibri"/>
                        <a:sym typeface="Calibri"/>
                      </a:rPr>
                      <a:t>Negative Photoresist</a:t>
                    </a:r>
                    <a:endParaRPr sz="800" b="0" i="0" u="none" strike="noStrike" cap="none">
                      <a:solidFill>
                        <a:schemeClr val="dk1"/>
                      </a:solidFill>
                      <a:latin typeface="Calibri"/>
                      <a:ea typeface="Calibri"/>
                      <a:cs typeface="Calibri"/>
                      <a:sym typeface="Calibri"/>
                    </a:endParaRPr>
                  </a:p>
                </p:txBody>
              </p:sp>
            </p:grpSp>
            <p:grpSp>
              <p:nvGrpSpPr>
                <p:cNvPr id="869" name="Google Shape;869;p32"/>
                <p:cNvGrpSpPr/>
                <p:nvPr/>
              </p:nvGrpSpPr>
              <p:grpSpPr>
                <a:xfrm>
                  <a:off x="5702428" y="3049002"/>
                  <a:ext cx="1759857" cy="510188"/>
                  <a:chOff x="5389083" y="3051785"/>
                  <a:chExt cx="1759857" cy="510188"/>
                </a:xfrm>
              </p:grpSpPr>
              <p:grpSp>
                <p:nvGrpSpPr>
                  <p:cNvPr id="870" name="Google Shape;870;p32"/>
                  <p:cNvGrpSpPr/>
                  <p:nvPr/>
                </p:nvGrpSpPr>
                <p:grpSpPr>
                  <a:xfrm>
                    <a:off x="5389083" y="3315169"/>
                    <a:ext cx="1759857" cy="246804"/>
                    <a:chOff x="5484974" y="4482375"/>
                    <a:chExt cx="1759857" cy="246804"/>
                  </a:xfrm>
                </p:grpSpPr>
                <p:sp>
                  <p:nvSpPr>
                    <p:cNvPr id="871" name="Google Shape;871;p32"/>
                    <p:cNvSpPr/>
                    <p:nvPr/>
                  </p:nvSpPr>
                  <p:spPr>
                    <a:xfrm>
                      <a:off x="5486070" y="4608556"/>
                      <a:ext cx="1758761" cy="120623"/>
                    </a:xfrm>
                    <a:prstGeom prst="rect">
                      <a:avLst/>
                    </a:prstGeom>
                    <a:solidFill>
                      <a:srgbClr val="D8D8D8"/>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C0C0C"/>
                          </a:solidFill>
                          <a:latin typeface="Calibri"/>
                          <a:ea typeface="Calibri"/>
                          <a:cs typeface="Calibri"/>
                          <a:sym typeface="Calibri"/>
                        </a:rPr>
                        <a:t>Substrate</a:t>
                      </a:r>
                      <a:endParaRPr sz="800" b="0" i="0" u="none" strike="noStrike" cap="none">
                        <a:solidFill>
                          <a:srgbClr val="0C0C0C"/>
                        </a:solidFill>
                        <a:latin typeface="Calibri"/>
                        <a:ea typeface="Calibri"/>
                        <a:cs typeface="Calibri"/>
                        <a:sym typeface="Calibri"/>
                      </a:endParaRPr>
                    </a:p>
                  </p:txBody>
                </p:sp>
                <p:sp>
                  <p:nvSpPr>
                    <p:cNvPr id="872" name="Google Shape;872;p32"/>
                    <p:cNvSpPr/>
                    <p:nvPr/>
                  </p:nvSpPr>
                  <p:spPr>
                    <a:xfrm>
                      <a:off x="5484974" y="4482375"/>
                      <a:ext cx="1758761" cy="120623"/>
                    </a:xfrm>
                    <a:prstGeom prst="rect">
                      <a:avLst/>
                    </a:prstGeom>
                    <a:solidFill>
                      <a:srgbClr val="2E75B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C0C0C"/>
                          </a:solidFill>
                          <a:latin typeface="Calibri"/>
                          <a:ea typeface="Calibri"/>
                          <a:cs typeface="Calibri"/>
                          <a:sym typeface="Calibri"/>
                        </a:rPr>
                        <a:t>Oxide</a:t>
                      </a:r>
                      <a:endParaRPr sz="800" b="0" i="0" u="none" strike="noStrike" cap="none">
                        <a:solidFill>
                          <a:srgbClr val="0C0C0C"/>
                        </a:solidFill>
                        <a:latin typeface="Calibri"/>
                        <a:ea typeface="Calibri"/>
                        <a:cs typeface="Calibri"/>
                        <a:sym typeface="Calibri"/>
                      </a:endParaRPr>
                    </a:p>
                  </p:txBody>
                </p:sp>
              </p:grpSp>
              <p:sp>
                <p:nvSpPr>
                  <p:cNvPr id="873" name="Google Shape;873;p32"/>
                  <p:cNvSpPr/>
                  <p:nvPr/>
                </p:nvSpPr>
                <p:spPr>
                  <a:xfrm>
                    <a:off x="5724618" y="3051785"/>
                    <a:ext cx="313627" cy="25124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74" name="Google Shape;874;p32"/>
                  <p:cNvSpPr/>
                  <p:nvPr/>
                </p:nvSpPr>
                <p:spPr>
                  <a:xfrm>
                    <a:off x="6431759" y="3075683"/>
                    <a:ext cx="313627" cy="22568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875" name="Google Shape;875;p32"/>
                <p:cNvGrpSpPr/>
                <p:nvPr/>
              </p:nvGrpSpPr>
              <p:grpSpPr>
                <a:xfrm>
                  <a:off x="5728289" y="3844600"/>
                  <a:ext cx="1758761" cy="510188"/>
                  <a:chOff x="5470247" y="3844600"/>
                  <a:chExt cx="1758761" cy="510188"/>
                </a:xfrm>
              </p:grpSpPr>
              <p:grpSp>
                <p:nvGrpSpPr>
                  <p:cNvPr id="876" name="Google Shape;876;p32"/>
                  <p:cNvGrpSpPr/>
                  <p:nvPr/>
                </p:nvGrpSpPr>
                <p:grpSpPr>
                  <a:xfrm>
                    <a:off x="5470247" y="3844600"/>
                    <a:ext cx="1758761" cy="510188"/>
                    <a:chOff x="5390179" y="3051785"/>
                    <a:chExt cx="1758761" cy="510188"/>
                  </a:xfrm>
                </p:grpSpPr>
                <p:grpSp>
                  <p:nvGrpSpPr>
                    <p:cNvPr id="877" name="Google Shape;877;p32"/>
                    <p:cNvGrpSpPr/>
                    <p:nvPr/>
                  </p:nvGrpSpPr>
                  <p:grpSpPr>
                    <a:xfrm>
                      <a:off x="5390179" y="3315169"/>
                      <a:ext cx="1758761" cy="246804"/>
                      <a:chOff x="5486070" y="4482375"/>
                      <a:chExt cx="1758761" cy="246804"/>
                    </a:xfrm>
                  </p:grpSpPr>
                  <p:sp>
                    <p:nvSpPr>
                      <p:cNvPr id="878" name="Google Shape;878;p32"/>
                      <p:cNvSpPr/>
                      <p:nvPr/>
                    </p:nvSpPr>
                    <p:spPr>
                      <a:xfrm>
                        <a:off x="5486070" y="4608556"/>
                        <a:ext cx="1758761" cy="120623"/>
                      </a:xfrm>
                      <a:prstGeom prst="rect">
                        <a:avLst/>
                      </a:prstGeom>
                      <a:solidFill>
                        <a:srgbClr val="D8D8D8"/>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C0C0C"/>
                            </a:solidFill>
                            <a:latin typeface="Calibri"/>
                            <a:ea typeface="Calibri"/>
                            <a:cs typeface="Calibri"/>
                            <a:sym typeface="Calibri"/>
                          </a:rPr>
                          <a:t>Substrate</a:t>
                        </a:r>
                        <a:endParaRPr sz="800" b="0" i="0" u="none" strike="noStrike" cap="none">
                          <a:solidFill>
                            <a:srgbClr val="0C0C0C"/>
                          </a:solidFill>
                          <a:latin typeface="Calibri"/>
                          <a:ea typeface="Calibri"/>
                          <a:cs typeface="Calibri"/>
                          <a:sym typeface="Calibri"/>
                        </a:endParaRPr>
                      </a:p>
                    </p:txBody>
                  </p:sp>
                  <p:sp>
                    <p:nvSpPr>
                      <p:cNvPr id="879" name="Google Shape;879;p32"/>
                      <p:cNvSpPr/>
                      <p:nvPr/>
                    </p:nvSpPr>
                    <p:spPr>
                      <a:xfrm>
                        <a:off x="5820509" y="4482375"/>
                        <a:ext cx="313627" cy="120623"/>
                      </a:xfrm>
                      <a:prstGeom prst="rect">
                        <a:avLst/>
                      </a:prstGeom>
                      <a:solidFill>
                        <a:srgbClr val="2E75B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rgbClr val="0C0C0C"/>
                          </a:solidFill>
                          <a:latin typeface="Calibri"/>
                          <a:ea typeface="Calibri"/>
                          <a:cs typeface="Calibri"/>
                          <a:sym typeface="Calibri"/>
                        </a:endParaRPr>
                      </a:p>
                    </p:txBody>
                  </p:sp>
                </p:grpSp>
                <p:sp>
                  <p:nvSpPr>
                    <p:cNvPr id="880" name="Google Shape;880;p32"/>
                    <p:cNvSpPr/>
                    <p:nvPr/>
                  </p:nvSpPr>
                  <p:spPr>
                    <a:xfrm>
                      <a:off x="5724618" y="3051785"/>
                      <a:ext cx="313627" cy="25124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81" name="Google Shape;881;p32"/>
                    <p:cNvSpPr/>
                    <p:nvPr/>
                  </p:nvSpPr>
                  <p:spPr>
                    <a:xfrm>
                      <a:off x="6431759" y="3075683"/>
                      <a:ext cx="313627" cy="22568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882" name="Google Shape;882;p32"/>
                  <p:cNvSpPr/>
                  <p:nvPr/>
                </p:nvSpPr>
                <p:spPr>
                  <a:xfrm>
                    <a:off x="6511827" y="4105420"/>
                    <a:ext cx="313627" cy="120623"/>
                  </a:xfrm>
                  <a:prstGeom prst="rect">
                    <a:avLst/>
                  </a:prstGeom>
                  <a:solidFill>
                    <a:srgbClr val="2E75B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rgbClr val="0C0C0C"/>
                      </a:solidFill>
                      <a:latin typeface="Calibri"/>
                      <a:ea typeface="Calibri"/>
                      <a:cs typeface="Calibri"/>
                      <a:sym typeface="Calibri"/>
                    </a:endParaRPr>
                  </a:p>
                </p:txBody>
              </p:sp>
            </p:grpSp>
            <p:grpSp>
              <p:nvGrpSpPr>
                <p:cNvPr id="883" name="Google Shape;883;p32"/>
                <p:cNvGrpSpPr/>
                <p:nvPr/>
              </p:nvGrpSpPr>
              <p:grpSpPr>
                <a:xfrm>
                  <a:off x="5746261" y="4881724"/>
                  <a:ext cx="1758761" cy="249368"/>
                  <a:chOff x="5470247" y="4105420"/>
                  <a:chExt cx="1758761" cy="249368"/>
                </a:xfrm>
              </p:grpSpPr>
              <p:grpSp>
                <p:nvGrpSpPr>
                  <p:cNvPr id="884" name="Google Shape;884;p32"/>
                  <p:cNvGrpSpPr/>
                  <p:nvPr/>
                </p:nvGrpSpPr>
                <p:grpSpPr>
                  <a:xfrm>
                    <a:off x="5470247" y="4107984"/>
                    <a:ext cx="1758761" cy="246804"/>
                    <a:chOff x="5486070" y="4482375"/>
                    <a:chExt cx="1758761" cy="246804"/>
                  </a:xfrm>
                </p:grpSpPr>
                <p:sp>
                  <p:nvSpPr>
                    <p:cNvPr id="885" name="Google Shape;885;p32"/>
                    <p:cNvSpPr/>
                    <p:nvPr/>
                  </p:nvSpPr>
                  <p:spPr>
                    <a:xfrm>
                      <a:off x="5486070" y="4608556"/>
                      <a:ext cx="1758761" cy="120623"/>
                    </a:xfrm>
                    <a:prstGeom prst="rect">
                      <a:avLst/>
                    </a:prstGeom>
                    <a:solidFill>
                      <a:srgbClr val="D8D8D8"/>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C0C0C"/>
                          </a:solidFill>
                          <a:latin typeface="Calibri"/>
                          <a:ea typeface="Calibri"/>
                          <a:cs typeface="Calibri"/>
                          <a:sym typeface="Calibri"/>
                        </a:rPr>
                        <a:t>Substrate</a:t>
                      </a:r>
                      <a:endParaRPr sz="800" b="0" i="0" u="none" strike="noStrike" cap="none">
                        <a:solidFill>
                          <a:srgbClr val="0C0C0C"/>
                        </a:solidFill>
                        <a:latin typeface="Calibri"/>
                        <a:ea typeface="Calibri"/>
                        <a:cs typeface="Calibri"/>
                        <a:sym typeface="Calibri"/>
                      </a:endParaRPr>
                    </a:p>
                  </p:txBody>
                </p:sp>
                <p:sp>
                  <p:nvSpPr>
                    <p:cNvPr id="886" name="Google Shape;886;p32"/>
                    <p:cNvSpPr/>
                    <p:nvPr/>
                  </p:nvSpPr>
                  <p:spPr>
                    <a:xfrm>
                      <a:off x="5820509" y="4482375"/>
                      <a:ext cx="313627" cy="120623"/>
                    </a:xfrm>
                    <a:prstGeom prst="rect">
                      <a:avLst/>
                    </a:prstGeom>
                    <a:solidFill>
                      <a:srgbClr val="2E75B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rgbClr val="0C0C0C"/>
                        </a:solidFill>
                        <a:latin typeface="Calibri"/>
                        <a:ea typeface="Calibri"/>
                        <a:cs typeface="Calibri"/>
                        <a:sym typeface="Calibri"/>
                      </a:endParaRPr>
                    </a:p>
                  </p:txBody>
                </p:sp>
              </p:grpSp>
              <p:sp>
                <p:nvSpPr>
                  <p:cNvPr id="887" name="Google Shape;887;p32"/>
                  <p:cNvSpPr/>
                  <p:nvPr/>
                </p:nvSpPr>
                <p:spPr>
                  <a:xfrm>
                    <a:off x="6511827" y="4105420"/>
                    <a:ext cx="313627" cy="120623"/>
                  </a:xfrm>
                  <a:prstGeom prst="rect">
                    <a:avLst/>
                  </a:prstGeom>
                  <a:solidFill>
                    <a:srgbClr val="2E75B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rgbClr val="0C0C0C"/>
                      </a:solidFill>
                      <a:latin typeface="Calibri"/>
                      <a:ea typeface="Calibri"/>
                      <a:cs typeface="Calibri"/>
                      <a:sym typeface="Calibri"/>
                    </a:endParaRPr>
                  </a:p>
                </p:txBody>
              </p:sp>
            </p:grpSp>
          </p:grpSp>
        </p:grpSp>
        <p:sp>
          <p:nvSpPr>
            <p:cNvPr id="888" name="Google Shape;888;p32"/>
            <p:cNvSpPr txBox="1"/>
            <p:nvPr/>
          </p:nvSpPr>
          <p:spPr>
            <a:xfrm>
              <a:off x="3200762" y="5855806"/>
              <a:ext cx="1603514"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Positive Resist</a:t>
              </a:r>
              <a:endParaRPr sz="1400" b="0" i="0" u="none" strike="noStrike" cap="none">
                <a:solidFill>
                  <a:srgbClr val="000000"/>
                </a:solidFill>
                <a:latin typeface="Arial"/>
                <a:ea typeface="Arial"/>
                <a:cs typeface="Arial"/>
                <a:sym typeface="Arial"/>
              </a:endParaRPr>
            </a:p>
          </p:txBody>
        </p:sp>
        <p:sp>
          <p:nvSpPr>
            <p:cNvPr id="889" name="Google Shape;889;p32"/>
            <p:cNvSpPr txBox="1"/>
            <p:nvPr/>
          </p:nvSpPr>
          <p:spPr>
            <a:xfrm>
              <a:off x="6201472" y="5855806"/>
              <a:ext cx="1603514"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Negative Resist</a:t>
              </a:r>
              <a:endParaRPr sz="1400" b="0" i="0" u="none" strike="noStrike" cap="none">
                <a:solidFill>
                  <a:srgbClr val="000000"/>
                </a:solidFill>
                <a:latin typeface="Arial"/>
                <a:ea typeface="Arial"/>
                <a:cs typeface="Arial"/>
                <a:sym typeface="Arial"/>
              </a:endParaRPr>
            </a:p>
          </p:txBody>
        </p:sp>
      </p:grpSp>
      <p:sp>
        <p:nvSpPr>
          <p:cNvPr id="890" name="Google Shape;890;p32"/>
          <p:cNvSpPr/>
          <p:nvPr/>
        </p:nvSpPr>
        <p:spPr>
          <a:xfrm>
            <a:off x="9907804" y="2270417"/>
            <a:ext cx="1023448" cy="471821"/>
          </a:xfrm>
          <a:prstGeom prst="lef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Reticle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CONFIDENTIAL</a:t>
            </a:r>
            <a:endParaRPr/>
          </a:p>
        </p:txBody>
      </p:sp>
      <p:sp>
        <p:nvSpPr>
          <p:cNvPr id="896" name="Google Shape;896;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
        <p:nvSpPr>
          <p:cNvPr id="897" name="Google Shape;897;p33"/>
          <p:cNvSpPr txBox="1">
            <a:spLocks noGrp="1"/>
          </p:cNvSpPr>
          <p:nvPr>
            <p:ph type="title"/>
          </p:nvPr>
        </p:nvSpPr>
        <p:spPr>
          <a:xfrm>
            <a:off x="308185" y="399130"/>
            <a:ext cx="6762226" cy="94461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000"/>
              <a:buFont typeface="Calibri"/>
              <a:buNone/>
            </a:pPr>
            <a:r>
              <a:rPr lang="en-US" b="1"/>
              <a:t>Photolithography Process Flow</a:t>
            </a:r>
            <a:endParaRPr/>
          </a:p>
        </p:txBody>
      </p:sp>
      <p:sp>
        <p:nvSpPr>
          <p:cNvPr id="898" name="Google Shape;898;p33"/>
          <p:cNvSpPr txBox="1"/>
          <p:nvPr/>
        </p:nvSpPr>
        <p:spPr>
          <a:xfrm>
            <a:off x="1789465" y="1406986"/>
            <a:ext cx="3541115"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Incoming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(film deposition / cleaning step)</a:t>
            </a:r>
            <a:endParaRPr sz="1800" b="0" i="0" u="none" strike="noStrike" cap="none">
              <a:solidFill>
                <a:schemeClr val="dk1"/>
              </a:solidFill>
              <a:latin typeface="Calibri"/>
              <a:ea typeface="Calibri"/>
              <a:cs typeface="Calibri"/>
              <a:sym typeface="Calibri"/>
            </a:endParaRPr>
          </a:p>
        </p:txBody>
      </p:sp>
      <p:sp>
        <p:nvSpPr>
          <p:cNvPr id="899" name="Google Shape;899;p33"/>
          <p:cNvSpPr txBox="1"/>
          <p:nvPr/>
        </p:nvSpPr>
        <p:spPr>
          <a:xfrm>
            <a:off x="702468" y="2237301"/>
            <a:ext cx="1552100" cy="646331"/>
          </a:xfrm>
          <a:prstGeom prst="rect">
            <a:avLst/>
          </a:prstGeom>
          <a:solidFill>
            <a:srgbClr val="C9C9C9"/>
          </a:solidFill>
          <a:ln w="9525" cap="flat" cmpd="sng">
            <a:solidFill>
              <a:srgbClr val="8296B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Dehydration Bake</a:t>
            </a:r>
            <a:endParaRPr sz="1800" b="0" i="0" u="none" strike="noStrike" cap="none">
              <a:solidFill>
                <a:schemeClr val="dk1"/>
              </a:solidFill>
              <a:latin typeface="Calibri"/>
              <a:ea typeface="Calibri"/>
              <a:cs typeface="Calibri"/>
              <a:sym typeface="Calibri"/>
            </a:endParaRPr>
          </a:p>
        </p:txBody>
      </p:sp>
      <p:sp>
        <p:nvSpPr>
          <p:cNvPr id="900" name="Google Shape;900;p33"/>
          <p:cNvSpPr txBox="1"/>
          <p:nvPr/>
        </p:nvSpPr>
        <p:spPr>
          <a:xfrm>
            <a:off x="2787285" y="2375799"/>
            <a:ext cx="1552100" cy="369332"/>
          </a:xfrm>
          <a:prstGeom prst="rect">
            <a:avLst/>
          </a:prstGeom>
          <a:solidFill>
            <a:srgbClr val="C9C9C9"/>
          </a:solidFill>
          <a:ln w="9525" cap="flat" cmpd="sng">
            <a:solidFill>
              <a:srgbClr val="8296B0"/>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Prime (HMDS)</a:t>
            </a:r>
            <a:endParaRPr sz="1800" b="0" i="0" u="none" strike="noStrike" cap="none">
              <a:solidFill>
                <a:schemeClr val="dk1"/>
              </a:solidFill>
              <a:latin typeface="Calibri"/>
              <a:ea typeface="Calibri"/>
              <a:cs typeface="Calibri"/>
              <a:sym typeface="Calibri"/>
            </a:endParaRPr>
          </a:p>
        </p:txBody>
      </p:sp>
      <p:sp>
        <p:nvSpPr>
          <p:cNvPr id="901" name="Google Shape;901;p33"/>
          <p:cNvSpPr txBox="1"/>
          <p:nvPr/>
        </p:nvSpPr>
        <p:spPr>
          <a:xfrm>
            <a:off x="4690511" y="2375803"/>
            <a:ext cx="1552100" cy="369332"/>
          </a:xfrm>
          <a:prstGeom prst="rect">
            <a:avLst/>
          </a:prstGeom>
          <a:solidFill>
            <a:srgbClr val="C9C9C9"/>
          </a:solidFill>
          <a:ln w="9525" cap="flat" cmpd="sng">
            <a:solidFill>
              <a:srgbClr val="8296B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Resist Coat</a:t>
            </a:r>
            <a:endParaRPr sz="1800" b="0" i="0" u="none" strike="noStrike" cap="none">
              <a:solidFill>
                <a:schemeClr val="dk1"/>
              </a:solidFill>
              <a:latin typeface="Calibri"/>
              <a:ea typeface="Calibri"/>
              <a:cs typeface="Calibri"/>
              <a:sym typeface="Calibri"/>
            </a:endParaRPr>
          </a:p>
        </p:txBody>
      </p:sp>
      <p:sp>
        <p:nvSpPr>
          <p:cNvPr id="902" name="Google Shape;902;p33"/>
          <p:cNvSpPr txBox="1"/>
          <p:nvPr/>
        </p:nvSpPr>
        <p:spPr>
          <a:xfrm>
            <a:off x="6763287" y="2237299"/>
            <a:ext cx="2305087" cy="646331"/>
          </a:xfrm>
          <a:prstGeom prst="rect">
            <a:avLst/>
          </a:prstGeom>
          <a:solidFill>
            <a:srgbClr val="C9C9C9"/>
          </a:solidFill>
          <a:ln w="9525" cap="flat" cmpd="sng">
            <a:solidFill>
              <a:srgbClr val="8296B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Soft-Bake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(PAB Bake)</a:t>
            </a:r>
            <a:endParaRPr sz="1800" b="0" i="0" u="none" strike="noStrike" cap="none">
              <a:solidFill>
                <a:schemeClr val="dk1"/>
              </a:solidFill>
              <a:latin typeface="Calibri"/>
              <a:ea typeface="Calibri"/>
              <a:cs typeface="Calibri"/>
              <a:sym typeface="Calibri"/>
            </a:endParaRPr>
          </a:p>
        </p:txBody>
      </p:sp>
      <p:sp>
        <p:nvSpPr>
          <p:cNvPr id="903" name="Google Shape;903;p33"/>
          <p:cNvSpPr txBox="1"/>
          <p:nvPr/>
        </p:nvSpPr>
        <p:spPr>
          <a:xfrm>
            <a:off x="7139780" y="3973812"/>
            <a:ext cx="1552100" cy="369332"/>
          </a:xfrm>
          <a:prstGeom prst="rect">
            <a:avLst/>
          </a:prstGeom>
          <a:solidFill>
            <a:srgbClr val="C9C9C9"/>
          </a:solidFill>
          <a:ln w="9525" cap="flat" cmpd="sng">
            <a:solidFill>
              <a:srgbClr val="8296B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Exposure</a:t>
            </a:r>
            <a:endParaRPr sz="1800" b="0" i="0" u="none" strike="noStrike" cap="none">
              <a:solidFill>
                <a:schemeClr val="dk1"/>
              </a:solidFill>
              <a:latin typeface="Calibri"/>
              <a:ea typeface="Calibri"/>
              <a:cs typeface="Calibri"/>
              <a:sym typeface="Calibri"/>
            </a:endParaRPr>
          </a:p>
        </p:txBody>
      </p:sp>
      <p:sp>
        <p:nvSpPr>
          <p:cNvPr id="904" name="Google Shape;904;p33"/>
          <p:cNvSpPr txBox="1"/>
          <p:nvPr/>
        </p:nvSpPr>
        <p:spPr>
          <a:xfrm>
            <a:off x="5180260" y="3700693"/>
            <a:ext cx="1442949" cy="923330"/>
          </a:xfrm>
          <a:prstGeom prst="rect">
            <a:avLst/>
          </a:prstGeom>
          <a:solidFill>
            <a:srgbClr val="C9C9C9"/>
          </a:solidFill>
          <a:ln w="9525" cap="flat" cmpd="sng">
            <a:solidFill>
              <a:srgbClr val="8296B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Post Exposure Bake (PEB)</a:t>
            </a:r>
            <a:endParaRPr sz="1800" b="0" i="0" u="none" strike="noStrike" cap="none">
              <a:solidFill>
                <a:schemeClr val="dk1"/>
              </a:solidFill>
              <a:latin typeface="Calibri"/>
              <a:ea typeface="Calibri"/>
              <a:cs typeface="Calibri"/>
              <a:sym typeface="Calibri"/>
            </a:endParaRPr>
          </a:p>
        </p:txBody>
      </p:sp>
      <p:sp>
        <p:nvSpPr>
          <p:cNvPr id="905" name="Google Shape;905;p33"/>
          <p:cNvSpPr txBox="1"/>
          <p:nvPr/>
        </p:nvSpPr>
        <p:spPr>
          <a:xfrm>
            <a:off x="2648664" y="3977692"/>
            <a:ext cx="1552100" cy="369332"/>
          </a:xfrm>
          <a:prstGeom prst="rect">
            <a:avLst/>
          </a:prstGeom>
          <a:solidFill>
            <a:srgbClr val="C9C9C9"/>
          </a:solidFill>
          <a:ln w="9525" cap="flat" cmpd="sng">
            <a:solidFill>
              <a:srgbClr val="8296B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Develop</a:t>
            </a:r>
            <a:endParaRPr sz="1800" b="0" i="0" u="none" strike="noStrike" cap="none">
              <a:solidFill>
                <a:schemeClr val="dk1"/>
              </a:solidFill>
              <a:latin typeface="Calibri"/>
              <a:ea typeface="Calibri"/>
              <a:cs typeface="Calibri"/>
              <a:sym typeface="Calibri"/>
            </a:endParaRPr>
          </a:p>
        </p:txBody>
      </p:sp>
      <p:sp>
        <p:nvSpPr>
          <p:cNvPr id="906" name="Google Shape;906;p33"/>
          <p:cNvSpPr txBox="1"/>
          <p:nvPr/>
        </p:nvSpPr>
        <p:spPr>
          <a:xfrm>
            <a:off x="642433" y="3981470"/>
            <a:ext cx="1431132" cy="369332"/>
          </a:xfrm>
          <a:prstGeom prst="rect">
            <a:avLst/>
          </a:prstGeom>
          <a:solidFill>
            <a:srgbClr val="C9C9C9"/>
          </a:solidFill>
          <a:ln w="9525" cap="flat" cmpd="sng">
            <a:solidFill>
              <a:srgbClr val="8296B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Hard-Bake</a:t>
            </a:r>
            <a:endParaRPr sz="1800" b="0" i="0" u="none" strike="noStrike" cap="none">
              <a:solidFill>
                <a:schemeClr val="dk1"/>
              </a:solidFill>
              <a:latin typeface="Calibri"/>
              <a:ea typeface="Calibri"/>
              <a:cs typeface="Calibri"/>
              <a:sym typeface="Calibri"/>
            </a:endParaRPr>
          </a:p>
        </p:txBody>
      </p:sp>
      <p:sp>
        <p:nvSpPr>
          <p:cNvPr id="907" name="Google Shape;907;p33"/>
          <p:cNvSpPr txBox="1"/>
          <p:nvPr/>
        </p:nvSpPr>
        <p:spPr>
          <a:xfrm>
            <a:off x="581949" y="5306586"/>
            <a:ext cx="1552100" cy="369332"/>
          </a:xfrm>
          <a:prstGeom prst="rect">
            <a:avLst/>
          </a:prstGeom>
          <a:solidFill>
            <a:srgbClr val="C9C9C9"/>
          </a:solidFill>
          <a:ln w="9525" cap="flat" cmpd="sng">
            <a:solidFill>
              <a:srgbClr val="8296B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Overlay </a:t>
            </a:r>
            <a:endParaRPr sz="1800" b="0" i="0" u="none" strike="noStrike" cap="none">
              <a:solidFill>
                <a:schemeClr val="dk1"/>
              </a:solidFill>
              <a:latin typeface="Calibri"/>
              <a:ea typeface="Calibri"/>
              <a:cs typeface="Calibri"/>
              <a:sym typeface="Calibri"/>
            </a:endParaRPr>
          </a:p>
        </p:txBody>
      </p:sp>
      <p:sp>
        <p:nvSpPr>
          <p:cNvPr id="908" name="Google Shape;908;p33"/>
          <p:cNvSpPr txBox="1"/>
          <p:nvPr/>
        </p:nvSpPr>
        <p:spPr>
          <a:xfrm>
            <a:off x="2866404" y="5306586"/>
            <a:ext cx="1425242" cy="369332"/>
          </a:xfrm>
          <a:prstGeom prst="rect">
            <a:avLst/>
          </a:prstGeom>
          <a:solidFill>
            <a:srgbClr val="C9C9C9"/>
          </a:solidFill>
          <a:ln w="9525" cap="flat" cmpd="sng">
            <a:solidFill>
              <a:srgbClr val="8296B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Inspection</a:t>
            </a:r>
            <a:endParaRPr sz="1800" b="0" i="0" u="none" strike="noStrike" cap="none">
              <a:solidFill>
                <a:schemeClr val="dk1"/>
              </a:solidFill>
              <a:latin typeface="Calibri"/>
              <a:ea typeface="Calibri"/>
              <a:cs typeface="Calibri"/>
              <a:sym typeface="Calibri"/>
            </a:endParaRPr>
          </a:p>
        </p:txBody>
      </p:sp>
      <p:sp>
        <p:nvSpPr>
          <p:cNvPr id="909" name="Google Shape;909;p33"/>
          <p:cNvSpPr txBox="1"/>
          <p:nvPr/>
        </p:nvSpPr>
        <p:spPr>
          <a:xfrm>
            <a:off x="5330580" y="5029587"/>
            <a:ext cx="1432707" cy="923330"/>
          </a:xfrm>
          <a:prstGeom prst="rect">
            <a:avLst/>
          </a:prstGeom>
          <a:solidFill>
            <a:srgbClr val="C9C9C9"/>
          </a:solidFill>
          <a:ln w="9525" cap="flat" cmpd="sng">
            <a:solidFill>
              <a:srgbClr val="8296B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Critical Dimension (CD)</a:t>
            </a:r>
            <a:endParaRPr sz="1800" b="0" i="0" u="none" strike="noStrike" cap="none">
              <a:solidFill>
                <a:schemeClr val="dk1"/>
              </a:solidFill>
              <a:latin typeface="Calibri"/>
              <a:ea typeface="Calibri"/>
              <a:cs typeface="Calibri"/>
              <a:sym typeface="Calibri"/>
            </a:endParaRPr>
          </a:p>
        </p:txBody>
      </p:sp>
      <p:cxnSp>
        <p:nvCxnSpPr>
          <p:cNvPr id="910" name="Google Shape;910;p33"/>
          <p:cNvCxnSpPr>
            <a:stCxn id="899" idx="3"/>
            <a:endCxn id="900" idx="1"/>
          </p:cNvCxnSpPr>
          <p:nvPr/>
        </p:nvCxnSpPr>
        <p:spPr>
          <a:xfrm>
            <a:off x="2254568" y="2560466"/>
            <a:ext cx="532800" cy="600"/>
          </a:xfrm>
          <a:prstGeom prst="bentConnector3">
            <a:avLst>
              <a:gd name="adj1" fmla="val 50000"/>
            </a:avLst>
          </a:prstGeom>
          <a:noFill/>
          <a:ln w="9525" cap="flat" cmpd="sng">
            <a:solidFill>
              <a:schemeClr val="accent1"/>
            </a:solidFill>
            <a:prstDash val="solid"/>
            <a:miter lim="800000"/>
            <a:headEnd type="none" w="sm" len="sm"/>
            <a:tailEnd type="stealth" w="med" len="med"/>
          </a:ln>
        </p:spPr>
      </p:cxnSp>
      <p:cxnSp>
        <p:nvCxnSpPr>
          <p:cNvPr id="911" name="Google Shape;911;p33"/>
          <p:cNvCxnSpPr>
            <a:stCxn id="900" idx="3"/>
            <a:endCxn id="901" idx="1"/>
          </p:cNvCxnSpPr>
          <p:nvPr/>
        </p:nvCxnSpPr>
        <p:spPr>
          <a:xfrm>
            <a:off x="4339385" y="2560465"/>
            <a:ext cx="351000" cy="600"/>
          </a:xfrm>
          <a:prstGeom prst="bentConnector3">
            <a:avLst>
              <a:gd name="adj1" fmla="val 50000"/>
            </a:avLst>
          </a:prstGeom>
          <a:noFill/>
          <a:ln w="9525" cap="flat" cmpd="sng">
            <a:solidFill>
              <a:schemeClr val="accent1"/>
            </a:solidFill>
            <a:prstDash val="solid"/>
            <a:miter lim="800000"/>
            <a:headEnd type="none" w="sm" len="sm"/>
            <a:tailEnd type="stealth" w="med" len="med"/>
          </a:ln>
        </p:spPr>
      </p:cxnSp>
      <p:cxnSp>
        <p:nvCxnSpPr>
          <p:cNvPr id="912" name="Google Shape;912;p33"/>
          <p:cNvCxnSpPr>
            <a:stCxn id="901" idx="3"/>
            <a:endCxn id="902" idx="1"/>
          </p:cNvCxnSpPr>
          <p:nvPr/>
        </p:nvCxnSpPr>
        <p:spPr>
          <a:xfrm>
            <a:off x="6242611" y="2560469"/>
            <a:ext cx="520800" cy="600"/>
          </a:xfrm>
          <a:prstGeom prst="bentConnector3">
            <a:avLst>
              <a:gd name="adj1" fmla="val 50000"/>
            </a:avLst>
          </a:prstGeom>
          <a:noFill/>
          <a:ln w="9525" cap="flat" cmpd="sng">
            <a:solidFill>
              <a:schemeClr val="accent1"/>
            </a:solidFill>
            <a:prstDash val="solid"/>
            <a:miter lim="800000"/>
            <a:headEnd type="none" w="sm" len="sm"/>
            <a:tailEnd type="stealth" w="med" len="med"/>
          </a:ln>
        </p:spPr>
      </p:cxnSp>
      <p:cxnSp>
        <p:nvCxnSpPr>
          <p:cNvPr id="913" name="Google Shape;913;p33"/>
          <p:cNvCxnSpPr>
            <a:stCxn id="902" idx="2"/>
            <a:endCxn id="903" idx="0"/>
          </p:cNvCxnSpPr>
          <p:nvPr/>
        </p:nvCxnSpPr>
        <p:spPr>
          <a:xfrm rot="-5400000" flipH="1">
            <a:off x="7371030" y="3428430"/>
            <a:ext cx="1090200" cy="600"/>
          </a:xfrm>
          <a:prstGeom prst="bentConnector3">
            <a:avLst>
              <a:gd name="adj1" fmla="val 49999"/>
            </a:avLst>
          </a:prstGeom>
          <a:noFill/>
          <a:ln w="9525" cap="flat" cmpd="sng">
            <a:solidFill>
              <a:schemeClr val="accent1"/>
            </a:solidFill>
            <a:prstDash val="solid"/>
            <a:miter lim="800000"/>
            <a:headEnd type="none" w="sm" len="sm"/>
            <a:tailEnd type="stealth" w="med" len="med"/>
          </a:ln>
        </p:spPr>
      </p:cxnSp>
      <p:cxnSp>
        <p:nvCxnSpPr>
          <p:cNvPr id="914" name="Google Shape;914;p33"/>
          <p:cNvCxnSpPr>
            <a:stCxn id="903" idx="1"/>
            <a:endCxn id="904" idx="3"/>
          </p:cNvCxnSpPr>
          <p:nvPr/>
        </p:nvCxnSpPr>
        <p:spPr>
          <a:xfrm flipH="1">
            <a:off x="6623180" y="4158478"/>
            <a:ext cx="516600" cy="3900"/>
          </a:xfrm>
          <a:prstGeom prst="bentConnector3">
            <a:avLst>
              <a:gd name="adj1" fmla="val 50000"/>
            </a:avLst>
          </a:prstGeom>
          <a:noFill/>
          <a:ln w="9525" cap="flat" cmpd="sng">
            <a:solidFill>
              <a:schemeClr val="accent1"/>
            </a:solidFill>
            <a:prstDash val="solid"/>
            <a:miter lim="800000"/>
            <a:headEnd type="none" w="sm" len="sm"/>
            <a:tailEnd type="stealth" w="med" len="med"/>
          </a:ln>
        </p:spPr>
      </p:cxnSp>
      <p:cxnSp>
        <p:nvCxnSpPr>
          <p:cNvPr id="915" name="Google Shape;915;p33"/>
          <p:cNvCxnSpPr>
            <a:stCxn id="904" idx="1"/>
            <a:endCxn id="905" idx="3"/>
          </p:cNvCxnSpPr>
          <p:nvPr/>
        </p:nvCxnSpPr>
        <p:spPr>
          <a:xfrm flipH="1">
            <a:off x="4200760" y="4162358"/>
            <a:ext cx="979500" cy="600"/>
          </a:xfrm>
          <a:prstGeom prst="bentConnector3">
            <a:avLst>
              <a:gd name="adj1" fmla="val 50000"/>
            </a:avLst>
          </a:prstGeom>
          <a:noFill/>
          <a:ln w="9525" cap="flat" cmpd="sng">
            <a:solidFill>
              <a:schemeClr val="accent1"/>
            </a:solidFill>
            <a:prstDash val="solid"/>
            <a:miter lim="800000"/>
            <a:headEnd type="none" w="sm" len="sm"/>
            <a:tailEnd type="stealth" w="med" len="med"/>
          </a:ln>
        </p:spPr>
      </p:cxnSp>
      <p:cxnSp>
        <p:nvCxnSpPr>
          <p:cNvPr id="916" name="Google Shape;916;p33"/>
          <p:cNvCxnSpPr>
            <a:stCxn id="905" idx="1"/>
            <a:endCxn id="906" idx="3"/>
          </p:cNvCxnSpPr>
          <p:nvPr/>
        </p:nvCxnSpPr>
        <p:spPr>
          <a:xfrm flipH="1">
            <a:off x="2073564" y="4162358"/>
            <a:ext cx="575100" cy="3900"/>
          </a:xfrm>
          <a:prstGeom prst="bentConnector3">
            <a:avLst>
              <a:gd name="adj1" fmla="val 50000"/>
            </a:avLst>
          </a:prstGeom>
          <a:noFill/>
          <a:ln w="9525" cap="flat" cmpd="sng">
            <a:solidFill>
              <a:schemeClr val="accent1"/>
            </a:solidFill>
            <a:prstDash val="solid"/>
            <a:miter lim="800000"/>
            <a:headEnd type="none" w="sm" len="sm"/>
            <a:tailEnd type="stealth" w="med" len="med"/>
          </a:ln>
        </p:spPr>
      </p:cxnSp>
      <p:sp>
        <p:nvSpPr>
          <p:cNvPr id="917" name="Google Shape;917;p33"/>
          <p:cNvSpPr/>
          <p:nvPr/>
        </p:nvSpPr>
        <p:spPr>
          <a:xfrm>
            <a:off x="1326776" y="1478101"/>
            <a:ext cx="394448" cy="574817"/>
          </a:xfrm>
          <a:prstGeom prst="downArrow">
            <a:avLst>
              <a:gd name="adj1" fmla="val 50000"/>
              <a:gd name="adj2" fmla="val 50000"/>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918" name="Google Shape;918;p33"/>
          <p:cNvCxnSpPr>
            <a:stCxn id="907" idx="3"/>
            <a:endCxn id="908" idx="1"/>
          </p:cNvCxnSpPr>
          <p:nvPr/>
        </p:nvCxnSpPr>
        <p:spPr>
          <a:xfrm>
            <a:off x="2134049" y="5491252"/>
            <a:ext cx="732300"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919" name="Google Shape;919;p33"/>
          <p:cNvCxnSpPr>
            <a:stCxn id="908" idx="3"/>
            <a:endCxn id="909" idx="1"/>
          </p:cNvCxnSpPr>
          <p:nvPr/>
        </p:nvCxnSpPr>
        <p:spPr>
          <a:xfrm>
            <a:off x="4291646" y="5491252"/>
            <a:ext cx="1038900"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920" name="Google Shape;920;p33"/>
          <p:cNvCxnSpPr>
            <a:stCxn id="906" idx="2"/>
            <a:endCxn id="907" idx="0"/>
          </p:cNvCxnSpPr>
          <p:nvPr/>
        </p:nvCxnSpPr>
        <p:spPr>
          <a:xfrm>
            <a:off x="1357999" y="4350802"/>
            <a:ext cx="0" cy="955800"/>
          </a:xfrm>
          <a:prstGeom prst="straightConnector1">
            <a:avLst/>
          </a:prstGeom>
          <a:noFill/>
          <a:ln w="9525" cap="flat" cmpd="sng">
            <a:solidFill>
              <a:schemeClr val="accent1"/>
            </a:solidFill>
            <a:prstDash val="solid"/>
            <a:miter lim="800000"/>
            <a:headEnd type="none" w="sm" len="sm"/>
            <a:tailEnd type="triangle" w="med" len="med"/>
          </a:ln>
        </p:spPr>
      </p:cxnSp>
      <p:sp>
        <p:nvSpPr>
          <p:cNvPr id="921" name="Google Shape;921;p33"/>
          <p:cNvSpPr/>
          <p:nvPr/>
        </p:nvSpPr>
        <p:spPr>
          <a:xfrm rot="10800000">
            <a:off x="9171131" y="2052918"/>
            <a:ext cx="394446" cy="2571105"/>
          </a:xfrm>
          <a:prstGeom prst="leftBrace">
            <a:avLst>
              <a:gd name="adj1" fmla="val 41450"/>
              <a:gd name="adj2" fmla="val 51901"/>
            </a:avLst>
          </a:prstGeom>
          <a:noFill/>
          <a:ln w="254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22" name="Google Shape;922;p33"/>
          <p:cNvSpPr txBox="1"/>
          <p:nvPr/>
        </p:nvSpPr>
        <p:spPr>
          <a:xfrm>
            <a:off x="9729904" y="2560464"/>
            <a:ext cx="2366919" cy="16312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In the modern factories, these steps are performed in an integrated system</a:t>
            </a:r>
            <a:r>
              <a:rPr lang="en-US" sz="18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CONFIDENTIAL</a:t>
            </a:r>
            <a:endParaRPr/>
          </a:p>
        </p:txBody>
      </p:sp>
      <p:sp>
        <p:nvSpPr>
          <p:cNvPr id="1000" name="Google Shape;1000;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1001" name="Google Shape;1001;p35"/>
          <p:cNvSpPr txBox="1">
            <a:spLocks noGrp="1"/>
          </p:cNvSpPr>
          <p:nvPr>
            <p:ph type="title"/>
          </p:nvPr>
        </p:nvSpPr>
        <p:spPr>
          <a:xfrm>
            <a:off x="150302" y="315214"/>
            <a:ext cx="10361103" cy="11528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b="1">
                <a:latin typeface="Arial"/>
                <a:ea typeface="Arial"/>
                <a:cs typeface="Arial"/>
                <a:sym typeface="Arial"/>
              </a:rPr>
              <a:t>Common Terminologies in Photolithography</a:t>
            </a:r>
            <a:endParaRPr/>
          </a:p>
        </p:txBody>
      </p:sp>
      <p:sp>
        <p:nvSpPr>
          <p:cNvPr id="1002" name="Google Shape;1002;p35"/>
          <p:cNvSpPr/>
          <p:nvPr/>
        </p:nvSpPr>
        <p:spPr>
          <a:xfrm>
            <a:off x="438757" y="1897667"/>
            <a:ext cx="6096000" cy="2677656"/>
          </a:xfrm>
          <a:prstGeom prst="rect">
            <a:avLst/>
          </a:prstGeom>
          <a:noFill/>
          <a:ln>
            <a:noFill/>
          </a:ln>
        </p:spPr>
        <p:txBody>
          <a:bodyPr spcFirstLastPara="1" wrap="square" lIns="91425" tIns="45700" rIns="91425" bIns="45700" anchor="t" anchorCtr="0">
            <a:spAutoFit/>
          </a:bodyPr>
          <a:lstStyle/>
          <a:p>
            <a:pPr marL="457200" marR="0" lvl="0" indent="-411163" algn="l" rtl="0">
              <a:lnSpc>
                <a:spcPct val="100000"/>
              </a:lnSpc>
              <a:spcBef>
                <a:spcPts val="0"/>
              </a:spcBef>
              <a:spcAft>
                <a:spcPts val="0"/>
              </a:spcAft>
              <a:buClr>
                <a:srgbClr val="0C0C0C"/>
              </a:buClr>
              <a:buSzPts val="2400"/>
              <a:buFont typeface="Courier New"/>
              <a:buChar char="o"/>
            </a:pPr>
            <a:r>
              <a:rPr lang="en-US" sz="2400" b="0" i="0" u="none" strike="noStrike" cap="none">
                <a:solidFill>
                  <a:schemeClr val="dk1"/>
                </a:solidFill>
                <a:latin typeface="Arial"/>
                <a:ea typeface="Arial"/>
                <a:cs typeface="Arial"/>
                <a:sym typeface="Arial"/>
              </a:rPr>
              <a:t>Critical layers vs non-critical layers</a:t>
            </a:r>
            <a:endParaRPr sz="1400" b="0" i="0" u="none" strike="noStrike" cap="none">
              <a:solidFill>
                <a:srgbClr val="000000"/>
              </a:solidFill>
              <a:latin typeface="Arial"/>
              <a:ea typeface="Arial"/>
              <a:cs typeface="Arial"/>
              <a:sym typeface="Arial"/>
            </a:endParaRPr>
          </a:p>
          <a:p>
            <a:pPr marL="457200" marR="0" lvl="0" indent="-411163" algn="l" rtl="0">
              <a:lnSpc>
                <a:spcPct val="100000"/>
              </a:lnSpc>
              <a:spcBef>
                <a:spcPts val="0"/>
              </a:spcBef>
              <a:spcAft>
                <a:spcPts val="0"/>
              </a:spcAft>
              <a:buClr>
                <a:srgbClr val="0C0C0C"/>
              </a:buClr>
              <a:buSzPts val="2400"/>
              <a:buFont typeface="Courier New"/>
              <a:buChar char="o"/>
            </a:pPr>
            <a:r>
              <a:rPr lang="en-US" sz="2400" b="0" i="0" u="none" strike="noStrike" cap="none">
                <a:solidFill>
                  <a:schemeClr val="dk1"/>
                </a:solidFill>
                <a:latin typeface="Arial"/>
                <a:ea typeface="Arial"/>
                <a:cs typeface="Arial"/>
                <a:sym typeface="Arial"/>
              </a:rPr>
              <a:t>Wavelengths</a:t>
            </a:r>
            <a:endParaRPr sz="1400" b="0" i="0" u="none" strike="noStrike" cap="none">
              <a:solidFill>
                <a:srgbClr val="000000"/>
              </a:solidFill>
              <a:latin typeface="Arial"/>
              <a:ea typeface="Arial"/>
              <a:cs typeface="Arial"/>
              <a:sym typeface="Arial"/>
            </a:endParaRPr>
          </a:p>
          <a:p>
            <a:pPr marL="457200" marR="0" lvl="0" indent="-411163" algn="l" rtl="0">
              <a:lnSpc>
                <a:spcPct val="100000"/>
              </a:lnSpc>
              <a:spcBef>
                <a:spcPts val="0"/>
              </a:spcBef>
              <a:spcAft>
                <a:spcPts val="0"/>
              </a:spcAft>
              <a:buClr>
                <a:srgbClr val="0C0C0C"/>
              </a:buClr>
              <a:buSzPts val="2400"/>
              <a:buFont typeface="Courier New"/>
              <a:buChar char="o"/>
            </a:pPr>
            <a:r>
              <a:rPr lang="en-US" sz="2400" b="0" i="0" u="none" strike="noStrike" cap="none">
                <a:solidFill>
                  <a:schemeClr val="dk1"/>
                </a:solidFill>
                <a:latin typeface="Arial"/>
                <a:ea typeface="Arial"/>
                <a:cs typeface="Arial"/>
                <a:sym typeface="Arial"/>
              </a:rPr>
              <a:t>Exposure (E = Intensity x Time)</a:t>
            </a:r>
            <a:endParaRPr sz="1400" b="0" i="0" u="none" strike="noStrike" cap="none">
              <a:solidFill>
                <a:srgbClr val="000000"/>
              </a:solidFill>
              <a:latin typeface="Arial"/>
              <a:ea typeface="Arial"/>
              <a:cs typeface="Arial"/>
              <a:sym typeface="Arial"/>
            </a:endParaRPr>
          </a:p>
          <a:p>
            <a:pPr marL="457200" marR="0" lvl="0" indent="-411163" algn="l" rtl="0">
              <a:lnSpc>
                <a:spcPct val="100000"/>
              </a:lnSpc>
              <a:spcBef>
                <a:spcPts val="0"/>
              </a:spcBef>
              <a:spcAft>
                <a:spcPts val="0"/>
              </a:spcAft>
              <a:buClr>
                <a:srgbClr val="0C0C0C"/>
              </a:buClr>
              <a:buSzPts val="2400"/>
              <a:buFont typeface="Courier New"/>
              <a:buChar char="o"/>
            </a:pPr>
            <a:r>
              <a:rPr lang="en-US" sz="2400" b="0" i="0" u="none" strike="noStrike" cap="none">
                <a:solidFill>
                  <a:schemeClr val="dk1"/>
                </a:solidFill>
                <a:latin typeface="Arial"/>
                <a:ea typeface="Arial"/>
                <a:cs typeface="Arial"/>
                <a:sym typeface="Arial"/>
              </a:rPr>
              <a:t>Reticle Transmission (RT)</a:t>
            </a:r>
            <a:endParaRPr sz="1400" b="0" i="0" u="none" strike="noStrike" cap="none">
              <a:solidFill>
                <a:srgbClr val="000000"/>
              </a:solidFill>
              <a:latin typeface="Arial"/>
              <a:ea typeface="Arial"/>
              <a:cs typeface="Arial"/>
              <a:sym typeface="Arial"/>
            </a:endParaRPr>
          </a:p>
          <a:p>
            <a:pPr marL="457200" marR="0" lvl="0" indent="-411163" algn="l" rtl="0">
              <a:lnSpc>
                <a:spcPct val="100000"/>
              </a:lnSpc>
              <a:spcBef>
                <a:spcPts val="0"/>
              </a:spcBef>
              <a:spcAft>
                <a:spcPts val="0"/>
              </a:spcAft>
              <a:buClr>
                <a:srgbClr val="0C0C0C"/>
              </a:buClr>
              <a:buSzPts val="2400"/>
              <a:buFont typeface="Courier New"/>
              <a:buChar char="o"/>
            </a:pPr>
            <a:r>
              <a:rPr lang="en-US" sz="2400" b="0" i="0" u="none" strike="noStrike" cap="none">
                <a:solidFill>
                  <a:schemeClr val="dk1"/>
                </a:solidFill>
                <a:latin typeface="Arial"/>
                <a:ea typeface="Arial"/>
                <a:cs typeface="Arial"/>
                <a:sym typeface="Arial"/>
              </a:rPr>
              <a:t>ARC, BARC, TARC</a:t>
            </a:r>
            <a:endParaRPr sz="1400" b="0" i="0" u="none" strike="noStrike" cap="none">
              <a:solidFill>
                <a:srgbClr val="000000"/>
              </a:solidFill>
              <a:latin typeface="Arial"/>
              <a:ea typeface="Arial"/>
              <a:cs typeface="Arial"/>
              <a:sym typeface="Arial"/>
            </a:endParaRPr>
          </a:p>
          <a:p>
            <a:pPr marL="457200" marR="0" lvl="0" indent="-411163" algn="l" rtl="0">
              <a:lnSpc>
                <a:spcPct val="100000"/>
              </a:lnSpc>
              <a:spcBef>
                <a:spcPts val="0"/>
              </a:spcBef>
              <a:spcAft>
                <a:spcPts val="0"/>
              </a:spcAft>
              <a:buClr>
                <a:srgbClr val="0C0C0C"/>
              </a:buClr>
              <a:buSzPts val="2400"/>
              <a:buFont typeface="Courier New"/>
              <a:buChar char="o"/>
            </a:pPr>
            <a:r>
              <a:rPr lang="en-US" sz="2400" b="0" i="0" u="none" strike="noStrike" cap="none">
                <a:solidFill>
                  <a:schemeClr val="dk1"/>
                </a:solidFill>
                <a:latin typeface="Arial"/>
                <a:ea typeface="Arial"/>
                <a:cs typeface="Arial"/>
                <a:sym typeface="Arial"/>
              </a:rPr>
              <a:t>Aspect Ratio</a:t>
            </a:r>
            <a:endParaRPr sz="1400" b="0" i="0" u="none" strike="noStrike" cap="none">
              <a:solidFill>
                <a:srgbClr val="000000"/>
              </a:solidFill>
              <a:latin typeface="Arial"/>
              <a:ea typeface="Arial"/>
              <a:cs typeface="Arial"/>
              <a:sym typeface="Arial"/>
            </a:endParaRPr>
          </a:p>
          <a:p>
            <a:pPr marL="457200" marR="0" lvl="0" indent="-411163" algn="l" rtl="0">
              <a:lnSpc>
                <a:spcPct val="100000"/>
              </a:lnSpc>
              <a:spcBef>
                <a:spcPts val="0"/>
              </a:spcBef>
              <a:spcAft>
                <a:spcPts val="0"/>
              </a:spcAft>
              <a:buClr>
                <a:srgbClr val="0C0C0C"/>
              </a:buClr>
              <a:buSzPts val="2400"/>
              <a:buFont typeface="Courier New"/>
              <a:buChar char="o"/>
            </a:pPr>
            <a:r>
              <a:rPr lang="en-US" sz="2400" b="0" i="0" u="none" strike="noStrike" cap="none">
                <a:solidFill>
                  <a:schemeClr val="dk1"/>
                </a:solidFill>
                <a:latin typeface="Arial"/>
                <a:ea typeface="Arial"/>
                <a:cs typeface="Arial"/>
                <a:sym typeface="Arial"/>
              </a:rPr>
              <a:t>CD – critical dimensions</a:t>
            </a:r>
            <a:endParaRPr sz="1400" b="0" i="0" u="none" strike="noStrike" cap="none">
              <a:solidFill>
                <a:srgbClr val="000000"/>
              </a:solidFill>
              <a:latin typeface="Arial"/>
              <a:ea typeface="Arial"/>
              <a:cs typeface="Arial"/>
              <a:sym typeface="Arial"/>
            </a:endParaRPr>
          </a:p>
        </p:txBody>
      </p:sp>
      <p:sp>
        <p:nvSpPr>
          <p:cNvPr id="1003" name="Google Shape;1003;p35"/>
          <p:cNvSpPr txBox="1"/>
          <p:nvPr/>
        </p:nvSpPr>
        <p:spPr>
          <a:xfrm>
            <a:off x="6451134" y="1897667"/>
            <a:ext cx="5302109" cy="2585323"/>
          </a:xfrm>
          <a:prstGeom prst="rect">
            <a:avLst/>
          </a:prstGeom>
          <a:noFill/>
          <a:ln>
            <a:noFill/>
          </a:ln>
        </p:spPr>
        <p:txBody>
          <a:bodyPr spcFirstLastPara="1" wrap="square" lIns="91425" tIns="45700" rIns="91425" bIns="45700" anchor="t" anchorCtr="0">
            <a:spAutoFit/>
          </a:bodyPr>
          <a:lstStyle/>
          <a:p>
            <a:pPr marL="457200" marR="0" lvl="0" indent="-411163" algn="l" rtl="0">
              <a:lnSpc>
                <a:spcPct val="100000"/>
              </a:lnSpc>
              <a:spcBef>
                <a:spcPts val="0"/>
              </a:spcBef>
              <a:spcAft>
                <a:spcPts val="0"/>
              </a:spcAft>
              <a:buClr>
                <a:srgbClr val="0C0C0C"/>
              </a:buClr>
              <a:buSzPts val="2400"/>
              <a:buFont typeface="Courier New"/>
              <a:buChar char="o"/>
            </a:pPr>
            <a:r>
              <a:rPr lang="en-US" sz="2400" b="0" i="0" u="none" strike="noStrike" cap="none">
                <a:solidFill>
                  <a:schemeClr val="dk1"/>
                </a:solidFill>
                <a:latin typeface="Arial"/>
                <a:ea typeface="Arial"/>
                <a:cs typeface="Arial"/>
                <a:sym typeface="Arial"/>
              </a:rPr>
              <a:t>Pitch</a:t>
            </a:r>
            <a:endParaRPr sz="1400" b="0" i="0" u="none" strike="noStrike" cap="none">
              <a:solidFill>
                <a:srgbClr val="000000"/>
              </a:solidFill>
              <a:latin typeface="Arial"/>
              <a:ea typeface="Arial"/>
              <a:cs typeface="Arial"/>
              <a:sym typeface="Arial"/>
            </a:endParaRPr>
          </a:p>
          <a:p>
            <a:pPr marL="457200" marR="0" lvl="0" indent="-411163" algn="l" rtl="0">
              <a:lnSpc>
                <a:spcPct val="100000"/>
              </a:lnSpc>
              <a:spcBef>
                <a:spcPts val="0"/>
              </a:spcBef>
              <a:spcAft>
                <a:spcPts val="0"/>
              </a:spcAft>
              <a:buClr>
                <a:srgbClr val="0C0C0C"/>
              </a:buClr>
              <a:buSzPts val="2400"/>
              <a:buFont typeface="Courier New"/>
              <a:buChar char="o"/>
            </a:pPr>
            <a:r>
              <a:rPr lang="en-US" sz="2400" b="0" i="0" u="none" strike="noStrike" cap="none">
                <a:solidFill>
                  <a:schemeClr val="dk1"/>
                </a:solidFill>
                <a:latin typeface="Arial"/>
                <a:ea typeface="Arial"/>
                <a:cs typeface="Arial"/>
                <a:sym typeface="Arial"/>
              </a:rPr>
              <a:t>Overlay </a:t>
            </a:r>
            <a:endParaRPr sz="1400" b="0" i="0" u="none" strike="noStrike" cap="none">
              <a:solidFill>
                <a:srgbClr val="000000"/>
              </a:solidFill>
              <a:latin typeface="Arial"/>
              <a:ea typeface="Arial"/>
              <a:cs typeface="Arial"/>
              <a:sym typeface="Arial"/>
            </a:endParaRPr>
          </a:p>
          <a:p>
            <a:pPr marL="457200" marR="0" lvl="0" indent="-411163" algn="l" rtl="0">
              <a:lnSpc>
                <a:spcPct val="100000"/>
              </a:lnSpc>
              <a:spcBef>
                <a:spcPts val="0"/>
              </a:spcBef>
              <a:spcAft>
                <a:spcPts val="0"/>
              </a:spcAft>
              <a:buClr>
                <a:srgbClr val="0C0C0C"/>
              </a:buClr>
              <a:buSzPts val="2400"/>
              <a:buFont typeface="Courier New"/>
              <a:buChar char="o"/>
            </a:pPr>
            <a:r>
              <a:rPr lang="en-US" sz="2400" b="0" i="0" u="none" strike="noStrike" cap="none">
                <a:solidFill>
                  <a:schemeClr val="dk1"/>
                </a:solidFill>
                <a:latin typeface="Arial"/>
                <a:ea typeface="Arial"/>
                <a:cs typeface="Arial"/>
                <a:sym typeface="Arial"/>
              </a:rPr>
              <a:t>CAR – chemically amplified resist</a:t>
            </a:r>
            <a:endParaRPr sz="1400" b="0" i="0" u="none" strike="noStrike" cap="none">
              <a:solidFill>
                <a:srgbClr val="000000"/>
              </a:solidFill>
              <a:latin typeface="Arial"/>
              <a:ea typeface="Arial"/>
              <a:cs typeface="Arial"/>
              <a:sym typeface="Arial"/>
            </a:endParaRPr>
          </a:p>
          <a:p>
            <a:pPr marL="457200" marR="0" lvl="0" indent="-411163" algn="l" rtl="0">
              <a:lnSpc>
                <a:spcPct val="100000"/>
              </a:lnSpc>
              <a:spcBef>
                <a:spcPts val="0"/>
              </a:spcBef>
              <a:spcAft>
                <a:spcPts val="0"/>
              </a:spcAft>
              <a:buClr>
                <a:srgbClr val="0C0C0C"/>
              </a:buClr>
              <a:buSzPts val="2400"/>
              <a:buFont typeface="Courier New"/>
              <a:buChar char="o"/>
            </a:pPr>
            <a:r>
              <a:rPr lang="en-US" sz="2400" b="0" i="0" u="none" strike="noStrike" cap="none">
                <a:solidFill>
                  <a:schemeClr val="dk1"/>
                </a:solidFill>
                <a:latin typeface="Arial"/>
                <a:ea typeface="Arial"/>
                <a:cs typeface="Arial"/>
                <a:sym typeface="Arial"/>
              </a:rPr>
              <a:t>PAB (post Apply Bake- soft-bake)</a:t>
            </a:r>
            <a:endParaRPr sz="1400" b="0" i="0" u="none" strike="noStrike" cap="none">
              <a:solidFill>
                <a:srgbClr val="000000"/>
              </a:solidFill>
              <a:latin typeface="Arial"/>
              <a:ea typeface="Arial"/>
              <a:cs typeface="Arial"/>
              <a:sym typeface="Arial"/>
            </a:endParaRPr>
          </a:p>
          <a:p>
            <a:pPr marL="457200" marR="0" lvl="0" indent="-411163" algn="l" rtl="0">
              <a:lnSpc>
                <a:spcPct val="100000"/>
              </a:lnSpc>
              <a:spcBef>
                <a:spcPts val="0"/>
              </a:spcBef>
              <a:spcAft>
                <a:spcPts val="0"/>
              </a:spcAft>
              <a:buClr>
                <a:srgbClr val="0C0C0C"/>
              </a:buClr>
              <a:buSzPts val="2400"/>
              <a:buFont typeface="Courier New"/>
              <a:buChar char="o"/>
            </a:pPr>
            <a:r>
              <a:rPr lang="en-US" sz="2400" b="0" i="0" u="none" strike="noStrike" cap="none">
                <a:solidFill>
                  <a:schemeClr val="dk1"/>
                </a:solidFill>
                <a:latin typeface="Arial"/>
                <a:ea typeface="Arial"/>
                <a:cs typeface="Arial"/>
                <a:sym typeface="Arial"/>
              </a:rPr>
              <a:t>PED (post exposure delay)</a:t>
            </a:r>
            <a:endParaRPr sz="1400" b="0" i="0" u="none" strike="noStrike" cap="none">
              <a:solidFill>
                <a:srgbClr val="000000"/>
              </a:solidFill>
              <a:latin typeface="Arial"/>
              <a:ea typeface="Arial"/>
              <a:cs typeface="Arial"/>
              <a:sym typeface="Arial"/>
            </a:endParaRPr>
          </a:p>
          <a:p>
            <a:pPr marL="457200" marR="0" lvl="0" indent="-411163" algn="l" rtl="0">
              <a:lnSpc>
                <a:spcPct val="100000"/>
              </a:lnSpc>
              <a:spcBef>
                <a:spcPts val="0"/>
              </a:spcBef>
              <a:spcAft>
                <a:spcPts val="0"/>
              </a:spcAft>
              <a:buClr>
                <a:srgbClr val="0C0C0C"/>
              </a:buClr>
              <a:buSzPts val="2400"/>
              <a:buFont typeface="Courier New"/>
              <a:buChar char="o"/>
            </a:pPr>
            <a:r>
              <a:rPr lang="en-US" sz="2400" b="0" i="0" u="none" strike="noStrike" cap="none">
                <a:solidFill>
                  <a:schemeClr val="dk1"/>
                </a:solidFill>
                <a:latin typeface="Arial"/>
                <a:ea typeface="Arial"/>
                <a:cs typeface="Arial"/>
                <a:sym typeface="Arial"/>
              </a:rPr>
              <a:t>Ghost Imaging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p36"/>
          <p:cNvSpPr txBox="1">
            <a:spLocks noGrp="1"/>
          </p:cNvSpPr>
          <p:nvPr>
            <p:ph type="title"/>
          </p:nvPr>
        </p:nvSpPr>
        <p:spPr>
          <a:xfrm>
            <a:off x="304081" y="355835"/>
            <a:ext cx="7469038" cy="113696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000"/>
              <a:buFont typeface="Calibri"/>
              <a:buNone/>
            </a:pPr>
            <a:r>
              <a:rPr lang="en-US"/>
              <a:t>Critical Dimensions Measurements</a:t>
            </a:r>
            <a:endParaRPr/>
          </a:p>
        </p:txBody>
      </p:sp>
      <p:sp>
        <p:nvSpPr>
          <p:cNvPr id="1023" name="Google Shape;1023;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CONFIDENTIAL</a:t>
            </a:r>
            <a:endParaRPr/>
          </a:p>
        </p:txBody>
      </p:sp>
      <p:sp>
        <p:nvSpPr>
          <p:cNvPr id="1024" name="Google Shape;1024;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pic>
        <p:nvPicPr>
          <p:cNvPr id="1025" name="Google Shape;1025;p36" descr="800009"/>
          <p:cNvPicPr preferRelativeResize="0"/>
          <p:nvPr/>
        </p:nvPicPr>
        <p:blipFill rotWithShape="1">
          <a:blip r:embed="rId3">
            <a:alphaModFix/>
          </a:blip>
          <a:srcRect/>
          <a:stretch/>
        </p:blipFill>
        <p:spPr>
          <a:xfrm>
            <a:off x="184558" y="1593147"/>
            <a:ext cx="3007966" cy="2995631"/>
          </a:xfrm>
          <a:prstGeom prst="rect">
            <a:avLst/>
          </a:prstGeom>
          <a:noFill/>
          <a:ln>
            <a:noFill/>
          </a:ln>
        </p:spPr>
      </p:pic>
      <p:sp>
        <p:nvSpPr>
          <p:cNvPr id="1026" name="Google Shape;1026;p36"/>
          <p:cNvSpPr txBox="1"/>
          <p:nvPr/>
        </p:nvSpPr>
        <p:spPr>
          <a:xfrm>
            <a:off x="3737232" y="1820166"/>
            <a:ext cx="7373592" cy="2554545"/>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Measurements made using the scanning electron microscope (SEM).  </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12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The tool can be utilized to monitor the line width or the spacing between the photoresist line. </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12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Rudimentary assessments of the profile can be made.  For a true understanding of the profiles, a cross-sectional image may be required.</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CONFIDENTIAL</a:t>
            </a:r>
            <a:endParaRPr/>
          </a:p>
        </p:txBody>
      </p:sp>
      <p:sp>
        <p:nvSpPr>
          <p:cNvPr id="1041" name="Google Shape;1041;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sp>
        <p:nvSpPr>
          <p:cNvPr id="1042" name="Google Shape;1042;p38"/>
          <p:cNvSpPr txBox="1">
            <a:spLocks noGrp="1"/>
          </p:cNvSpPr>
          <p:nvPr>
            <p:ph type="title"/>
          </p:nvPr>
        </p:nvSpPr>
        <p:spPr>
          <a:xfrm>
            <a:off x="185057" y="20524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rial"/>
              <a:buNone/>
            </a:pPr>
            <a:r>
              <a:rPr lang="en-US">
                <a:latin typeface="Arial"/>
                <a:ea typeface="Arial"/>
                <a:cs typeface="Arial"/>
                <a:sym typeface="Arial"/>
              </a:rPr>
              <a:t>Comparison between XSEM and OCD</a:t>
            </a:r>
            <a:endParaRPr/>
          </a:p>
        </p:txBody>
      </p:sp>
      <p:grpSp>
        <p:nvGrpSpPr>
          <p:cNvPr id="1043" name="Google Shape;1043;p38"/>
          <p:cNvGrpSpPr/>
          <p:nvPr/>
        </p:nvGrpSpPr>
        <p:grpSpPr>
          <a:xfrm>
            <a:off x="5133703" y="770709"/>
            <a:ext cx="6183085" cy="5016137"/>
            <a:chOff x="4267200" y="1857375"/>
            <a:chExt cx="3657600" cy="3143250"/>
          </a:xfrm>
        </p:grpSpPr>
        <p:pic>
          <p:nvPicPr>
            <p:cNvPr id="1044" name="Google Shape;1044;p38"/>
            <p:cNvPicPr preferRelativeResize="0"/>
            <p:nvPr/>
          </p:nvPicPr>
          <p:blipFill rotWithShape="1">
            <a:blip r:embed="rId3">
              <a:alphaModFix/>
            </a:blip>
            <a:srcRect/>
            <a:stretch/>
          </p:blipFill>
          <p:spPr>
            <a:xfrm>
              <a:off x="4267200" y="2505075"/>
              <a:ext cx="3657600" cy="2495550"/>
            </a:xfrm>
            <a:prstGeom prst="rect">
              <a:avLst/>
            </a:prstGeom>
            <a:noFill/>
            <a:ln>
              <a:noFill/>
            </a:ln>
          </p:spPr>
        </p:pic>
        <p:graphicFrame>
          <p:nvGraphicFramePr>
            <p:cNvPr id="1045" name="Google Shape;1045;p38"/>
            <p:cNvGraphicFramePr/>
            <p:nvPr/>
          </p:nvGraphicFramePr>
          <p:xfrm>
            <a:off x="5248275" y="1857375"/>
            <a:ext cx="1457325" cy="2638425"/>
          </p:xfrm>
          <a:graphic>
            <a:graphicData uri="http://schemas.openxmlformats.org/drawingml/2006/chart">
              <c:chart xmlns:c="http://schemas.openxmlformats.org/drawingml/2006/chart" xmlns:r="http://schemas.openxmlformats.org/officeDocument/2006/relationships" r:id="rId4"/>
            </a:graphicData>
          </a:graphic>
        </p:graphicFrame>
      </p:grpSp>
      <p:sp>
        <p:nvSpPr>
          <p:cNvPr id="1046" name="Google Shape;1046;p38"/>
          <p:cNvSpPr txBox="1"/>
          <p:nvPr/>
        </p:nvSpPr>
        <p:spPr>
          <a:xfrm>
            <a:off x="522514" y="1933303"/>
            <a:ext cx="3944983" cy="120032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With the introduction of OCD, the next innovation of in-situ metrology is born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CONFIDENTIAL</a:t>
            </a:r>
            <a:endParaRPr/>
          </a:p>
        </p:txBody>
      </p:sp>
      <p:sp>
        <p:nvSpPr>
          <p:cNvPr id="1069" name="Google Shape;1069;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sp>
        <p:nvSpPr>
          <p:cNvPr id="1070" name="Google Shape;1070;p40"/>
          <p:cNvSpPr txBox="1">
            <a:spLocks noGrp="1"/>
          </p:cNvSpPr>
          <p:nvPr>
            <p:ph type="title"/>
          </p:nvPr>
        </p:nvSpPr>
        <p:spPr>
          <a:xfrm>
            <a:off x="392848" y="338875"/>
            <a:ext cx="7361100" cy="1047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b="1">
                <a:latin typeface="Cambria"/>
                <a:ea typeface="Cambria"/>
                <a:cs typeface="Cambria"/>
                <a:sym typeface="Cambria"/>
              </a:rPr>
              <a:t>Overlay and Alignmen</a:t>
            </a:r>
            <a:r>
              <a:rPr lang="en-US" b="1"/>
              <a:t>t</a:t>
            </a:r>
            <a:endParaRPr/>
          </a:p>
        </p:txBody>
      </p:sp>
      <p:sp>
        <p:nvSpPr>
          <p:cNvPr id="1071" name="Google Shape;1071;p40"/>
          <p:cNvSpPr/>
          <p:nvPr/>
        </p:nvSpPr>
        <p:spPr>
          <a:xfrm>
            <a:off x="3249052" y="1381843"/>
            <a:ext cx="606640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1" i="0" u="none" strike="noStrike" cap="none">
                <a:solidFill>
                  <a:schemeClr val="accent5"/>
                </a:solidFill>
                <a:latin typeface="Calibri"/>
                <a:ea typeface="Calibri"/>
                <a:cs typeface="Calibri"/>
                <a:sym typeface="Calibri"/>
              </a:rPr>
              <a:t>Overlay ≠ Alignment</a:t>
            </a:r>
            <a:endParaRPr sz="5400" b="1" i="0" u="none" strike="noStrike" cap="none">
              <a:solidFill>
                <a:schemeClr val="accent5"/>
              </a:solidFill>
              <a:latin typeface="Calibri"/>
              <a:ea typeface="Calibri"/>
              <a:cs typeface="Calibri"/>
              <a:sym typeface="Calibri"/>
            </a:endParaRPr>
          </a:p>
        </p:txBody>
      </p:sp>
      <p:sp>
        <p:nvSpPr>
          <p:cNvPr id="1072" name="Google Shape;1072;p40"/>
          <p:cNvSpPr txBox="1"/>
          <p:nvPr/>
        </p:nvSpPr>
        <p:spPr>
          <a:xfrm>
            <a:off x="1016000" y="2317796"/>
            <a:ext cx="10532508" cy="1631216"/>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A pattern may be said to be well aligned, but the overall overlay of the wafer can still be considered bad leading to wafer being scrapped.</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Overlay refers to general pattern placement, whereas alignment refers to specific spots on the wafer (alignment marks or keys).  Hence, alignment cannot fully guarantee that the overlay elsewhere upon the wafer meets the desired specifications</a:t>
            </a:r>
            <a:endParaRPr sz="1400" b="0" i="0" u="none" strike="noStrike" cap="none">
              <a:solidFill>
                <a:srgbClr val="000000"/>
              </a:solidFill>
              <a:latin typeface="Arial"/>
              <a:ea typeface="Arial"/>
              <a:cs typeface="Arial"/>
              <a:sym typeface="Arial"/>
            </a:endParaRPr>
          </a:p>
        </p:txBody>
      </p:sp>
      <p:sp>
        <p:nvSpPr>
          <p:cNvPr id="1073" name="Google Shape;1073;p40"/>
          <p:cNvSpPr/>
          <p:nvPr/>
        </p:nvSpPr>
        <p:spPr>
          <a:xfrm>
            <a:off x="2072640" y="4854429"/>
            <a:ext cx="743712" cy="36512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74" name="Google Shape;1074;p40"/>
          <p:cNvSpPr/>
          <p:nvPr/>
        </p:nvSpPr>
        <p:spPr>
          <a:xfrm>
            <a:off x="2306894" y="4468698"/>
            <a:ext cx="743712" cy="36512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1075" name="Google Shape;1075;p40"/>
          <p:cNvCxnSpPr/>
          <p:nvPr/>
        </p:nvCxnSpPr>
        <p:spPr>
          <a:xfrm>
            <a:off x="2072640" y="4293597"/>
            <a:ext cx="371856" cy="0"/>
          </a:xfrm>
          <a:prstGeom prst="straightConnector1">
            <a:avLst/>
          </a:prstGeom>
          <a:noFill/>
          <a:ln w="9525" cap="flat" cmpd="sng">
            <a:solidFill>
              <a:schemeClr val="accent1"/>
            </a:solidFill>
            <a:prstDash val="solid"/>
            <a:miter lim="800000"/>
            <a:headEnd type="triangle" w="med" len="med"/>
            <a:tailEnd type="triangle" w="med" len="med"/>
          </a:ln>
        </p:spPr>
      </p:cxnSp>
      <p:sp>
        <p:nvSpPr>
          <p:cNvPr id="1076" name="Google Shape;1076;p40"/>
          <p:cNvSpPr txBox="1"/>
          <p:nvPr/>
        </p:nvSpPr>
        <p:spPr>
          <a:xfrm>
            <a:off x="8643085" y="4257494"/>
            <a:ext cx="3058662" cy="17543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However looking at the totality, the resultant overlay is out of the desired specifications.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For the IC’s of today, we are talking about 40+ mask Levels!</a:t>
            </a:r>
            <a:endParaRPr sz="1400" b="0" i="0" u="none" strike="noStrike" cap="none">
              <a:solidFill>
                <a:srgbClr val="000000"/>
              </a:solidFill>
              <a:latin typeface="Arial"/>
              <a:ea typeface="Arial"/>
              <a:cs typeface="Arial"/>
              <a:sym typeface="Arial"/>
            </a:endParaRPr>
          </a:p>
        </p:txBody>
      </p:sp>
      <p:sp>
        <p:nvSpPr>
          <p:cNvPr id="1077" name="Google Shape;1077;p40"/>
          <p:cNvSpPr/>
          <p:nvPr/>
        </p:nvSpPr>
        <p:spPr>
          <a:xfrm>
            <a:off x="7010242" y="5328611"/>
            <a:ext cx="743712" cy="36512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78" name="Google Shape;1078;p40"/>
          <p:cNvSpPr/>
          <p:nvPr/>
        </p:nvSpPr>
        <p:spPr>
          <a:xfrm>
            <a:off x="7244496" y="4942880"/>
            <a:ext cx="743712" cy="36512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79" name="Google Shape;1079;p40"/>
          <p:cNvSpPr/>
          <p:nvPr/>
        </p:nvSpPr>
        <p:spPr>
          <a:xfrm>
            <a:off x="7382098" y="4533911"/>
            <a:ext cx="743712" cy="36512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80" name="Google Shape;1080;p40"/>
          <p:cNvSpPr/>
          <p:nvPr/>
        </p:nvSpPr>
        <p:spPr>
          <a:xfrm>
            <a:off x="7762656" y="4148180"/>
            <a:ext cx="743712" cy="36512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1081" name="Google Shape;1081;p40"/>
          <p:cNvCxnSpPr/>
          <p:nvPr/>
        </p:nvCxnSpPr>
        <p:spPr>
          <a:xfrm rot="10800000">
            <a:off x="6998050" y="4148180"/>
            <a:ext cx="0" cy="1159825"/>
          </a:xfrm>
          <a:prstGeom prst="straightConnector1">
            <a:avLst/>
          </a:prstGeom>
          <a:noFill/>
          <a:ln w="9525" cap="flat" cmpd="sng">
            <a:solidFill>
              <a:schemeClr val="accent1"/>
            </a:solidFill>
            <a:prstDash val="solid"/>
            <a:miter lim="800000"/>
            <a:headEnd type="none" w="sm" len="sm"/>
            <a:tailEnd type="none" w="sm" len="sm"/>
          </a:ln>
        </p:spPr>
      </p:cxnSp>
      <p:cxnSp>
        <p:nvCxnSpPr>
          <p:cNvPr id="1082" name="Google Shape;1082;p40"/>
          <p:cNvCxnSpPr/>
          <p:nvPr/>
        </p:nvCxnSpPr>
        <p:spPr>
          <a:xfrm rot="10800000" flipH="1">
            <a:off x="7010242" y="4330743"/>
            <a:ext cx="606110" cy="11972"/>
          </a:xfrm>
          <a:prstGeom prst="straightConnector1">
            <a:avLst/>
          </a:prstGeom>
          <a:noFill/>
          <a:ln w="9525" cap="flat" cmpd="sng">
            <a:solidFill>
              <a:schemeClr val="accent1"/>
            </a:solidFill>
            <a:prstDash val="solid"/>
            <a:miter lim="800000"/>
            <a:headEnd type="triangle" w="med" len="med"/>
            <a:tailEnd type="triangle" w="med" len="med"/>
          </a:ln>
        </p:spPr>
      </p:cxnSp>
      <p:sp>
        <p:nvSpPr>
          <p:cNvPr id="1083" name="Google Shape;1083;p40"/>
          <p:cNvSpPr txBox="1"/>
          <p:nvPr/>
        </p:nvSpPr>
        <p:spPr>
          <a:xfrm>
            <a:off x="3614928" y="4386058"/>
            <a:ext cx="2426208"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Let’s say the alignment specification is ± 0.1 μm, we can say the 2 layers are aligned.</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917</Words>
  <Application>Microsoft Office PowerPoint</Application>
  <PresentationFormat>Widescreen</PresentationFormat>
  <Paragraphs>186</Paragraphs>
  <Slides>19</Slides>
  <Notes>19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19</vt:i4>
      </vt:variant>
    </vt:vector>
  </HeadingPairs>
  <TitlesOfParts>
    <vt:vector size="30" baseType="lpstr">
      <vt:lpstr>Aptos</vt:lpstr>
      <vt:lpstr>Aptos Display</vt:lpstr>
      <vt:lpstr>Arial</vt:lpstr>
      <vt:lpstr>Arial Black</vt:lpstr>
      <vt:lpstr>Calibri</vt:lpstr>
      <vt:lpstr>Cambria</vt:lpstr>
      <vt:lpstr>Courier New</vt:lpstr>
      <vt:lpstr>Georgia</vt:lpstr>
      <vt:lpstr>Lora</vt:lpstr>
      <vt:lpstr>Noto Sans Symbols</vt:lpstr>
      <vt:lpstr>Office Theme</vt:lpstr>
      <vt:lpstr>PowerPoint Presentation</vt:lpstr>
      <vt:lpstr>What are MEMS</vt:lpstr>
      <vt:lpstr>PowerPoint Presentation</vt:lpstr>
      <vt:lpstr>PowerPoint Presentation</vt:lpstr>
      <vt:lpstr>Photolithography</vt:lpstr>
      <vt:lpstr>Comparison be between Photography  and Photolithography</vt:lpstr>
      <vt:lpstr>Reticle  vs  Photomask</vt:lpstr>
      <vt:lpstr>Field vs Die</vt:lpstr>
      <vt:lpstr>Evolution of Exposure Systems</vt:lpstr>
      <vt:lpstr>Constraints Faced in Photolithography</vt:lpstr>
      <vt:lpstr>Exposure Wavelengths</vt:lpstr>
      <vt:lpstr>Extreme Ultraviolet (EUV)</vt:lpstr>
      <vt:lpstr>EUV Laser Systems</vt:lpstr>
      <vt:lpstr>The 2 Families of Photoresist</vt:lpstr>
      <vt:lpstr>Photolithography Process Flow</vt:lpstr>
      <vt:lpstr>Common Terminologies in Photolithography</vt:lpstr>
      <vt:lpstr>Critical Dimensions Measurements</vt:lpstr>
      <vt:lpstr>Comparison between XSEM and OCD</vt:lpstr>
      <vt:lpstr>Overlay and Alignment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Yik</dc:creator>
  <cp:lastModifiedBy>John Yik</cp:lastModifiedBy>
  <cp:revision>1</cp:revision>
  <dcterms:created xsi:type="dcterms:W3CDTF">2026-03-24T15:15:57Z</dcterms:created>
  <dcterms:modified xsi:type="dcterms:W3CDTF">2026-03-24T15:19:10Z</dcterms:modified>
</cp:coreProperties>
</file>